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716"/>
  </p:normalViewPr>
  <p:slideViewPr>
    <p:cSldViewPr snapToGrid="0" snapToObjects="1">
      <p:cViewPr varScale="1">
        <p:scale>
          <a:sx n="103" d="100"/>
          <a:sy n="103"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5100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everyone. Thank you for joining us today. We are excited to present our solution — Cross-Platform Identity Resolution and Agentic AI Ad Engine. A Customer Data Platform that solves identity fragmentation across platforms and delivers personalized AI-generated advertisements — all powered by local, privacy-preserving AI. Let us walk you through the problem, our solution, and what we have built.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team consists of two full-stack engineers who built this system end-to-end. Aman Kumar focused on the backend infrastructure — FastAPI, the identity resolution engine, AI pipeline integration with Ollama and Qdrant, and containerization. Abhishek Pundir led the frontend development — React, TypeScript, real-time dashboards, and the overall user experience. We worked collaboratively across all layers, and this presentation reflects the combined effort of the entire project.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core problem we set out to solve. A customer browses on their phone, switches to a laptop, visits the website on a tablet, uses your mobile app, and walks into a store. Every single touchpoint creates a separate, isolated identity. Businesses end up with duplicate profiles, poor personalization, wasted marketing spend on fragmented audiences, and with third-party cookies going away, the challenge is only getting worse. This identity fragmentation is the root cause of poor customer experiences and inefficient marketing.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Enterprises today face a critical challenge: customer identities are scattered across silos — websites, mobile apps, in-store systems, and marketing platforms. This fragmentation means no single view of the customer journey, marketing teams operating blind, and AI models trained on incomplete data. The Customer Data Platform market is projected to reach 28 billion dollars by 2028, driven by the urgent need for unified customer profiles, especially with third-party cookie deprecation. Our solution addresses this market need with an AI-powered CDP that delivers up to 30% improvement in marketing ROI and real-time unified customer profiles, all while maintaining privacy compliance.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our complete solution at a glance. Data flows from multi-platform clickstream generators through Redpanda event streaming into our identity resolution engine, which uses both deterministic and probabilistic matching to build unified customer profiles stored in MongoDB. From there, our AI pipeline takes over: Ollama LLM analyzes purchase intent, Qdrant vector search finds relevant products, and the ad generator creates personalized advertisements — all displayed through a real-time React dashboard. Four key differentiators set us apart: privacy-first architecture with a local LLM so no data ever leaves your infrastructure, real-time event-driven processing, a scalable Kafka-based pipeline, and deep AI-native personalization.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heart of our system — the technical architecture. Starting from the bottom, our Data Layer generates multi-platform synthetic clickstream events that flow into the Streaming Layer powered by Redpanda, a Kafka-compatible message broker. The Storage Layer uses MongoDB for unified profile persistence and Redis for caching ad responses. Our AI Layer is where the intelligence lives — Ollama LLM for intent profiling, Qdrant vector database for semantic product matching, and an agentic pipeline for ad creative generation. The API Layer built on FastAPI connects everything, and the Presentation Layer renders the React dashboard with real-time visualizations. Every layer is containerized with Docker, and the entire system runs with a single Docker Compose command.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walk you through the actual application we built. Starting with the Live Feed — you can see real-time clickstream events being ingested from multiple platforms with filtering capabilities and an event simulator for testing. The Identity Explorer lets you search by Global UID and visualize session graphs. Each profile shows devices, locations, and an LLM-generated intent analysis. The Ad Studio generates personalized advertisements using our AI pipeline — the LLM analyzes purchase intent, Qdrant finds relevant products, and the system creates tailored ad copy with headlines, body text, and CTAs. You can regenerate ads with one click. The Analytics dashboard provides comprehensive metrics including F1 scores, precision, recall, platform splits, and infrastructure health monitoring.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AI capabilities are built around five core components. First, deterministic matching uses rule-based identity linking through hashed emails, device IDs, and sessions. Second, probabilistic matching applies ML-based similarity scoring across device fingerprints and behavioral patterns. Third, Ollama LLM runs locally to analyze purchase patterns and generate intent profiles — completely privacy-preserving with no data leaving your infrastructure. Fourth, Qdrant vector database enables semantic product search using embeddings. Fifth, our agentic ad generation pipeline creates personalized ad copy with headlines, body text, and CTAs. The key architectural advantages are all AI runs locally, the entire pipeline is event-driven through Kafka, microservices scale horizontally, and customer data never leaves your infrastructure.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us talk about business value. Our solution delivers eight key outcomes for enterprise customers. Unified customer profiles provide a single view across every platform and device. Higher marketing ROI with up to 30% improvement in ad spend efficiency through targeted, AI-driven campaigns. Better customer insights through deep intent profiling and behavioral analysis at scale. A privacy-centric architecture with local AI inference that is GDPR-ready — no data ever leaves your infrastructure. Reduced customer acquisition cost through personalized marketing that eliminates waste. AI-generated ad creatives tailored to individual preferences. A scalable event pipeline built on Kafka that handles millions of events per second. And an enterprise-ready, containerized architecture that deploys anywhere with a single command.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Looking ahead, we have mapped out eight phases of enhancement. Phase one adds authentication with OAuth 2.0 and SSO. Phase two brings real-time streaming analytics using Apache Flink for advanced aggregations. Phase three implements GDPR compliance APIs for data deletion, export, and consent management. Phase four evolves the platform into a multi-tenant SaaS with organization isolation and usage-based billing. Phase five enables cloud deployment on AWS, GCP, or Azure using Kubernetes and Terraform. Phase six introduces predictive customer lifetime value modeling. Phase seven adds marketing automation with journey builders and campaign triggers. And phase eight brings an A/B testing engine for multi-variant experimentation. We believe this platform can transform how enterprises understand and engage their customers — moving from fragmented interactions to intelligent, privacy-preserving, AI-driven personalization.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640080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058400" cy="1097280"/>
          </a:xfrm>
          <a:prstGeom prst="rect">
            <a:avLst/>
          </a:prstGeom>
          <a:noFill/>
        </p:spPr>
        <p:txBody>
          <a:bodyPr wrap="square"/>
          <a:lstStyle/>
          <a:p>
            <a:pPr algn="l">
              <a:spcBef>
                <a:spcPts val="0"/>
              </a:spcBef>
              <a:spcAft>
                <a:spcPts val="0"/>
              </a:spcAft>
              <a:defRPr sz="4000" b="1">
                <a:solidFill>
                  <a:srgbClr val="0F172A"/>
                </a:solidFill>
                <a:latin typeface="Calibri"/>
              </a:defRPr>
            </a:pPr>
            <a:r>
              <a:t>Cross-Platform Identity Resolution</a:t>
            </a:r>
            <a:br/>
            <a:r>
              <a:t>&amp; Agentic AI Ad Engine</a:t>
            </a:r>
          </a:p>
        </p:txBody>
      </p:sp>
      <p:sp>
        <p:nvSpPr>
          <p:cNvPr id="4" name="TextBox 3"/>
          <p:cNvSpPr txBox="1"/>
          <p:nvPr/>
        </p:nvSpPr>
        <p:spPr>
          <a:xfrm>
            <a:off x="914400" y="2926080"/>
            <a:ext cx="10058400" cy="731520"/>
          </a:xfrm>
          <a:prstGeom prst="rect">
            <a:avLst/>
          </a:prstGeom>
          <a:noFill/>
        </p:spPr>
        <p:txBody>
          <a:bodyPr wrap="square"/>
          <a:lstStyle/>
          <a:p>
            <a:pPr algn="l">
              <a:spcBef>
                <a:spcPts val="0"/>
              </a:spcBef>
              <a:spcAft>
                <a:spcPts val="0"/>
              </a:spcAft>
              <a:defRPr sz="2200" b="0">
                <a:solidFill>
                  <a:srgbClr val="64748B"/>
                </a:solidFill>
                <a:latin typeface="Calibri"/>
              </a:defRPr>
            </a:pPr>
            <a:r>
              <a:t>A Unified Customer Data Platform for Privacy-Preserving, AI-Driven Personalization</a:t>
            </a:r>
          </a:p>
        </p:txBody>
      </p:sp>
      <p:sp>
        <p:nvSpPr>
          <p:cNvPr id="5" name="Rounded Rectangle 4"/>
          <p:cNvSpPr/>
          <p:nvPr/>
        </p:nvSpPr>
        <p:spPr>
          <a:xfrm>
            <a:off x="914400" y="3931920"/>
            <a:ext cx="2743200" cy="3657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4297680"/>
            <a:ext cx="10058400" cy="457200"/>
          </a:xfrm>
          <a:prstGeom prst="rect">
            <a:avLst/>
          </a:prstGeom>
          <a:noFill/>
        </p:spPr>
        <p:txBody>
          <a:bodyPr wrap="square"/>
          <a:lstStyle/>
          <a:p>
            <a:pPr algn="l">
              <a:spcBef>
                <a:spcPts val="0"/>
              </a:spcBef>
              <a:spcAft>
                <a:spcPts val="0"/>
              </a:spcAft>
              <a:defRPr sz="2000" b="0">
                <a:solidFill>
                  <a:srgbClr val="94A3B8"/>
                </a:solidFill>
                <a:latin typeface="Calibri"/>
              </a:defRPr>
            </a:pPr>
            <a:r>
              <a:t>Epsilon Hackathon  ·  June 2026</a:t>
            </a:r>
          </a:p>
        </p:txBody>
      </p:sp>
      <p:sp>
        <p:nvSpPr>
          <p:cNvPr id="7" name="TextBox 6"/>
          <p:cNvSpPr txBox="1"/>
          <p:nvPr/>
        </p:nvSpPr>
        <p:spPr>
          <a:xfrm>
            <a:off x="7772400" y="4114800"/>
            <a:ext cx="4114800" cy="2286000"/>
          </a:xfrm>
          <a:prstGeom prst="rect">
            <a:avLst/>
          </a:prstGeom>
          <a:noFill/>
        </p:spPr>
        <p:txBody>
          <a:bodyPr wrap="square"/>
          <a:lstStyle/>
          <a:p>
            <a:pPr algn="r">
              <a:spcBef>
                <a:spcPts val="0"/>
              </a:spcBef>
              <a:spcAft>
                <a:spcPts val="0"/>
              </a:spcAft>
              <a:defRPr sz="9600" b="1">
                <a:solidFill>
                  <a:srgbClr val="F1F5F9"/>
                </a:solidFill>
                <a:latin typeface="Calibri"/>
              </a:defRPr>
            </a:pPr>
            <a:r>
              <a:t>CDP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640080"/>
          </a:xfrm>
          <a:prstGeom prst="rect">
            <a:avLst/>
          </a:prstGeom>
          <a:noFill/>
        </p:spPr>
        <p:txBody>
          <a:bodyPr wrap="square"/>
          <a:lstStyle/>
          <a:p>
            <a:pPr algn="l">
              <a:spcBef>
                <a:spcPts val="0"/>
              </a:spcBef>
              <a:spcAft>
                <a:spcPts val="0"/>
              </a:spcAft>
              <a:defRPr sz="3600" b="1">
                <a:solidFill>
                  <a:srgbClr val="0F172A"/>
                </a:solidFill>
                <a:latin typeface="Calibri"/>
              </a:defRPr>
            </a:pPr>
            <a:r>
              <a:t>Meet the Team</a:t>
            </a:r>
          </a:p>
        </p:txBody>
      </p:sp>
      <p:sp>
        <p:nvSpPr>
          <p:cNvPr id="4" name="TextBox 3"/>
          <p:cNvSpPr txBox="1"/>
          <p:nvPr/>
        </p:nvSpPr>
        <p:spPr>
          <a:xfrm>
            <a:off x="640080" y="914400"/>
            <a:ext cx="10058400" cy="365760"/>
          </a:xfrm>
          <a:prstGeom prst="rect">
            <a:avLst/>
          </a:prstGeom>
          <a:noFill/>
        </p:spPr>
        <p:txBody>
          <a:bodyPr wrap="square"/>
          <a:lstStyle/>
          <a:p>
            <a:pPr algn="l">
              <a:spcBef>
                <a:spcPts val="0"/>
              </a:spcBef>
              <a:spcAft>
                <a:spcPts val="0"/>
              </a:spcAft>
              <a:defRPr sz="2000" b="0">
                <a:solidFill>
                  <a:srgbClr val="64748B"/>
                </a:solidFill>
                <a:latin typeface="Calibri"/>
              </a:defRPr>
            </a:pPr>
            <a:r>
              <a:t>Built end-to-end with equal contributions across backend, frontend, AI, and infrastructure.</a:t>
            </a:r>
          </a:p>
        </p:txBody>
      </p:sp>
      <p:sp>
        <p:nvSpPr>
          <p:cNvPr id="5" name="Rounded Rectangle 4"/>
          <p:cNvSpPr/>
          <p:nvPr/>
        </p:nvSpPr>
        <p:spPr>
          <a:xfrm>
            <a:off x="640080" y="1645920"/>
            <a:ext cx="502920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05840" y="2011680"/>
            <a:ext cx="1097280" cy="10972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011680"/>
            <a:ext cx="1097280" cy="1097280"/>
          </a:xfrm>
          <a:prstGeom prst="rect">
            <a:avLst/>
          </a:prstGeom>
          <a:noFill/>
        </p:spPr>
        <p:txBody>
          <a:bodyPr wrap="square"/>
          <a:lstStyle/>
          <a:p>
            <a:pPr algn="ctr">
              <a:spcBef>
                <a:spcPts val="0"/>
              </a:spcBef>
              <a:spcAft>
                <a:spcPts val="0"/>
              </a:spcAft>
              <a:defRPr sz="3600" b="1">
                <a:solidFill>
                  <a:srgbClr val="FFFFFF"/>
                </a:solidFill>
                <a:latin typeface="Calibri"/>
              </a:defRPr>
            </a:pPr>
            <a:r>
              <a:t>AK</a:t>
            </a:r>
          </a:p>
        </p:txBody>
      </p:sp>
      <p:sp>
        <p:nvSpPr>
          <p:cNvPr id="8" name="TextBox 7"/>
          <p:cNvSpPr txBox="1"/>
          <p:nvPr/>
        </p:nvSpPr>
        <p:spPr>
          <a:xfrm>
            <a:off x="2377440" y="2057400"/>
            <a:ext cx="2926080" cy="457200"/>
          </a:xfrm>
          <a:prstGeom prst="rect">
            <a:avLst/>
          </a:prstGeom>
          <a:noFill/>
        </p:spPr>
        <p:txBody>
          <a:bodyPr wrap="square"/>
          <a:lstStyle/>
          <a:p>
            <a:pPr algn="l">
              <a:spcBef>
                <a:spcPts val="0"/>
              </a:spcBef>
              <a:spcAft>
                <a:spcPts val="0"/>
              </a:spcAft>
              <a:defRPr sz="2600" b="1">
                <a:solidFill>
                  <a:srgbClr val="0F172A"/>
                </a:solidFill>
                <a:latin typeface="Calibri"/>
              </a:defRPr>
            </a:pPr>
            <a:r>
              <a:t>Aman Kumar</a:t>
            </a:r>
          </a:p>
        </p:txBody>
      </p:sp>
      <p:sp>
        <p:nvSpPr>
          <p:cNvPr id="9" name="TextBox 8"/>
          <p:cNvSpPr txBox="1"/>
          <p:nvPr/>
        </p:nvSpPr>
        <p:spPr>
          <a:xfrm>
            <a:off x="2377440" y="2514600"/>
            <a:ext cx="2926080" cy="365760"/>
          </a:xfrm>
          <a:prstGeom prst="rect">
            <a:avLst/>
          </a:prstGeom>
          <a:noFill/>
        </p:spPr>
        <p:txBody>
          <a:bodyPr wrap="square"/>
          <a:lstStyle/>
          <a:p>
            <a:pPr algn="l">
              <a:spcBef>
                <a:spcPts val="0"/>
              </a:spcBef>
              <a:spcAft>
                <a:spcPts val="0"/>
              </a:spcAft>
              <a:defRPr sz="1800" b="1">
                <a:solidFill>
                  <a:srgbClr val="2563EB"/>
                </a:solidFill>
                <a:latin typeface="Calibri"/>
              </a:defRPr>
            </a:pPr>
            <a:r>
              <a:t>Full-Stack Engineer · AI Integration</a:t>
            </a:r>
          </a:p>
        </p:txBody>
      </p:sp>
      <p:sp>
        <p:nvSpPr>
          <p:cNvPr id="10" name="TextBox 9"/>
          <p:cNvSpPr txBox="1"/>
          <p:nvPr/>
        </p:nvSpPr>
        <p:spPr>
          <a:xfrm>
            <a:off x="1005840" y="3337560"/>
            <a:ext cx="4389120" cy="457200"/>
          </a:xfrm>
          <a:prstGeom prst="rect">
            <a:avLst/>
          </a:prstGeom>
          <a:noFill/>
        </p:spPr>
        <p:txBody>
          <a:bodyPr wrap="square"/>
          <a:lstStyle/>
          <a:p>
            <a:pPr algn="l">
              <a:spcBef>
                <a:spcPts val="0"/>
              </a:spcBef>
              <a:spcAft>
                <a:spcPts val="0"/>
              </a:spcAft>
              <a:defRPr sz="1800" b="0">
                <a:solidFill>
                  <a:srgbClr val="334255"/>
                </a:solidFill>
                <a:latin typeface="Calibri"/>
              </a:defRPr>
            </a:pPr>
            <a:r>
              <a:t>⚙️  Backend — FastAPI, Redis, MongoDB integration</a:t>
            </a:r>
          </a:p>
        </p:txBody>
      </p:sp>
      <p:sp>
        <p:nvSpPr>
          <p:cNvPr id="11" name="TextBox 10"/>
          <p:cNvSpPr txBox="1"/>
          <p:nvPr/>
        </p:nvSpPr>
        <p:spPr>
          <a:xfrm>
            <a:off x="1005840" y="3886200"/>
            <a:ext cx="4389120" cy="457200"/>
          </a:xfrm>
          <a:prstGeom prst="rect">
            <a:avLst/>
          </a:prstGeom>
          <a:noFill/>
        </p:spPr>
        <p:txBody>
          <a:bodyPr wrap="square"/>
          <a:lstStyle/>
          <a:p>
            <a:pPr algn="l">
              <a:spcBef>
                <a:spcPts val="0"/>
              </a:spcBef>
              <a:spcAft>
                <a:spcPts val="0"/>
              </a:spcAft>
              <a:defRPr sz="1800" b="0">
                <a:solidFill>
                  <a:srgbClr val="334255"/>
                </a:solidFill>
                <a:latin typeface="Calibri"/>
              </a:defRPr>
            </a:pPr>
            <a:r>
              <a:t>🤖  AI Pipeline — Ollama LLM, Qdrant vector search</a:t>
            </a:r>
          </a:p>
        </p:txBody>
      </p:sp>
      <p:sp>
        <p:nvSpPr>
          <p:cNvPr id="12" name="TextBox 11"/>
          <p:cNvSpPr txBox="1"/>
          <p:nvPr/>
        </p:nvSpPr>
        <p:spPr>
          <a:xfrm>
            <a:off x="1005840" y="4434840"/>
            <a:ext cx="4389120" cy="457200"/>
          </a:xfrm>
          <a:prstGeom prst="rect">
            <a:avLst/>
          </a:prstGeom>
          <a:noFill/>
        </p:spPr>
        <p:txBody>
          <a:bodyPr wrap="square"/>
          <a:lstStyle/>
          <a:p>
            <a:pPr algn="l">
              <a:spcBef>
                <a:spcPts val="0"/>
              </a:spcBef>
              <a:spcAft>
                <a:spcPts val="0"/>
              </a:spcAft>
              <a:defRPr sz="1800" b="0">
                <a:solidFill>
                  <a:srgbClr val="334255"/>
                </a:solidFill>
                <a:latin typeface="Calibri"/>
              </a:defRPr>
            </a:pPr>
            <a:r>
              <a:t>📊  Analytics — Identity resolution engine, evaluation</a:t>
            </a:r>
          </a:p>
        </p:txBody>
      </p:sp>
      <p:sp>
        <p:nvSpPr>
          <p:cNvPr id="13" name="TextBox 12"/>
          <p:cNvSpPr txBox="1"/>
          <p:nvPr/>
        </p:nvSpPr>
        <p:spPr>
          <a:xfrm>
            <a:off x="1005840" y="4983479"/>
            <a:ext cx="4389120" cy="457200"/>
          </a:xfrm>
          <a:prstGeom prst="rect">
            <a:avLst/>
          </a:prstGeom>
          <a:noFill/>
        </p:spPr>
        <p:txBody>
          <a:bodyPr wrap="square"/>
          <a:lstStyle/>
          <a:p>
            <a:pPr algn="l">
              <a:spcBef>
                <a:spcPts val="0"/>
              </a:spcBef>
              <a:spcAft>
                <a:spcPts val="0"/>
              </a:spcAft>
              <a:defRPr sz="1800" b="0">
                <a:solidFill>
                  <a:srgbClr val="334255"/>
                </a:solidFill>
                <a:latin typeface="Calibri"/>
              </a:defRPr>
            </a:pPr>
            <a:r>
              <a:t>☁️  Infrastructure — Docker, Docker Compose, Kafka</a:t>
            </a:r>
          </a:p>
        </p:txBody>
      </p:sp>
      <p:sp>
        <p:nvSpPr>
          <p:cNvPr id="14" name="Rounded Rectangle 13"/>
          <p:cNvSpPr/>
          <p:nvPr/>
        </p:nvSpPr>
        <p:spPr>
          <a:xfrm>
            <a:off x="6217920" y="1645920"/>
            <a:ext cx="502920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583680" y="2011680"/>
            <a:ext cx="1097280" cy="109728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0" y="2011680"/>
            <a:ext cx="1097280" cy="1097280"/>
          </a:xfrm>
          <a:prstGeom prst="rect">
            <a:avLst/>
          </a:prstGeom>
          <a:noFill/>
        </p:spPr>
        <p:txBody>
          <a:bodyPr wrap="square"/>
          <a:lstStyle/>
          <a:p>
            <a:pPr algn="ctr">
              <a:spcBef>
                <a:spcPts val="0"/>
              </a:spcBef>
              <a:spcAft>
                <a:spcPts val="0"/>
              </a:spcAft>
              <a:defRPr sz="3600" b="1">
                <a:solidFill>
                  <a:srgbClr val="FFFFFF"/>
                </a:solidFill>
                <a:latin typeface="Calibri"/>
              </a:defRPr>
            </a:pPr>
            <a:r>
              <a:t>AP</a:t>
            </a:r>
          </a:p>
        </p:txBody>
      </p:sp>
      <p:sp>
        <p:nvSpPr>
          <p:cNvPr id="17" name="TextBox 16"/>
          <p:cNvSpPr txBox="1"/>
          <p:nvPr/>
        </p:nvSpPr>
        <p:spPr>
          <a:xfrm>
            <a:off x="7955280" y="2057400"/>
            <a:ext cx="2926080" cy="457200"/>
          </a:xfrm>
          <a:prstGeom prst="rect">
            <a:avLst/>
          </a:prstGeom>
          <a:noFill/>
        </p:spPr>
        <p:txBody>
          <a:bodyPr wrap="square"/>
          <a:lstStyle/>
          <a:p>
            <a:pPr algn="l">
              <a:spcBef>
                <a:spcPts val="0"/>
              </a:spcBef>
              <a:spcAft>
                <a:spcPts val="0"/>
              </a:spcAft>
              <a:defRPr sz="2600" b="1">
                <a:solidFill>
                  <a:srgbClr val="0F172A"/>
                </a:solidFill>
                <a:latin typeface="Calibri"/>
              </a:defRPr>
            </a:pPr>
            <a:r>
              <a:t>Abhishek Pundir</a:t>
            </a:r>
          </a:p>
        </p:txBody>
      </p:sp>
      <p:sp>
        <p:nvSpPr>
          <p:cNvPr id="18" name="TextBox 17"/>
          <p:cNvSpPr txBox="1"/>
          <p:nvPr/>
        </p:nvSpPr>
        <p:spPr>
          <a:xfrm>
            <a:off x="7955280" y="2514600"/>
            <a:ext cx="2926080" cy="365760"/>
          </a:xfrm>
          <a:prstGeom prst="rect">
            <a:avLst/>
          </a:prstGeom>
          <a:noFill/>
        </p:spPr>
        <p:txBody>
          <a:bodyPr wrap="square"/>
          <a:lstStyle/>
          <a:p>
            <a:pPr algn="l">
              <a:spcBef>
                <a:spcPts val="0"/>
              </a:spcBef>
              <a:spcAft>
                <a:spcPts val="0"/>
              </a:spcAft>
              <a:defRPr sz="1800" b="1">
                <a:solidFill>
                  <a:srgbClr val="2563EB"/>
                </a:solidFill>
                <a:latin typeface="Calibri"/>
              </a:defRPr>
            </a:pPr>
            <a:r>
              <a:t>Full-Stack Engineer · Frontend Lead</a:t>
            </a:r>
          </a:p>
        </p:txBody>
      </p:sp>
      <p:sp>
        <p:nvSpPr>
          <p:cNvPr id="19" name="TextBox 18"/>
          <p:cNvSpPr txBox="1"/>
          <p:nvPr/>
        </p:nvSpPr>
        <p:spPr>
          <a:xfrm>
            <a:off x="6583680" y="3337560"/>
            <a:ext cx="4389120" cy="457200"/>
          </a:xfrm>
          <a:prstGeom prst="rect">
            <a:avLst/>
          </a:prstGeom>
          <a:noFill/>
        </p:spPr>
        <p:txBody>
          <a:bodyPr wrap="square"/>
          <a:lstStyle/>
          <a:p>
            <a:pPr algn="l">
              <a:spcBef>
                <a:spcPts val="0"/>
              </a:spcBef>
              <a:spcAft>
                <a:spcPts val="0"/>
              </a:spcAft>
              <a:defRPr sz="1800" b="0">
                <a:solidFill>
                  <a:srgbClr val="334255"/>
                </a:solidFill>
                <a:latin typeface="Calibri"/>
              </a:defRPr>
            </a:pPr>
            <a:r>
              <a:t>🎨  Frontend — React, TypeScript, Vite, Tailwind CSS</a:t>
            </a:r>
          </a:p>
        </p:txBody>
      </p:sp>
      <p:sp>
        <p:nvSpPr>
          <p:cNvPr id="20" name="TextBox 19"/>
          <p:cNvSpPr txBox="1"/>
          <p:nvPr/>
        </p:nvSpPr>
        <p:spPr>
          <a:xfrm>
            <a:off x="6583680" y="3886200"/>
            <a:ext cx="4389120" cy="457200"/>
          </a:xfrm>
          <a:prstGeom prst="rect">
            <a:avLst/>
          </a:prstGeom>
          <a:noFill/>
        </p:spPr>
        <p:txBody>
          <a:bodyPr wrap="square"/>
          <a:lstStyle/>
          <a:p>
            <a:pPr algn="l">
              <a:spcBef>
                <a:spcPts val="0"/>
              </a:spcBef>
              <a:spcAft>
                <a:spcPts val="0"/>
              </a:spcAft>
              <a:defRPr sz="1800" b="0">
                <a:solidFill>
                  <a:srgbClr val="334255"/>
                </a:solidFill>
                <a:latin typeface="Calibri"/>
              </a:defRPr>
            </a:pPr>
            <a:r>
              <a:t>📈  Dashboard — Recharts, real-time data visualization</a:t>
            </a:r>
          </a:p>
        </p:txBody>
      </p:sp>
      <p:sp>
        <p:nvSpPr>
          <p:cNvPr id="21" name="TextBox 20"/>
          <p:cNvSpPr txBox="1"/>
          <p:nvPr/>
        </p:nvSpPr>
        <p:spPr>
          <a:xfrm>
            <a:off x="6583680" y="4434840"/>
            <a:ext cx="4389120" cy="457200"/>
          </a:xfrm>
          <a:prstGeom prst="rect">
            <a:avLst/>
          </a:prstGeom>
          <a:noFill/>
        </p:spPr>
        <p:txBody>
          <a:bodyPr wrap="square"/>
          <a:lstStyle/>
          <a:p>
            <a:pPr algn="l">
              <a:spcBef>
                <a:spcPts val="0"/>
              </a:spcBef>
              <a:spcAft>
                <a:spcPts val="0"/>
              </a:spcAft>
              <a:defRPr sz="1800" b="0">
                <a:solidFill>
                  <a:srgbClr val="334255"/>
                </a:solidFill>
                <a:latin typeface="Calibri"/>
              </a:defRPr>
            </a:pPr>
            <a:r>
              <a:t>🔗  API Gateway — Axios, React Query, event polling</a:t>
            </a:r>
          </a:p>
        </p:txBody>
      </p:sp>
      <p:sp>
        <p:nvSpPr>
          <p:cNvPr id="22" name="TextBox 21"/>
          <p:cNvSpPr txBox="1"/>
          <p:nvPr/>
        </p:nvSpPr>
        <p:spPr>
          <a:xfrm>
            <a:off x="6583680" y="4983479"/>
            <a:ext cx="4389120" cy="457200"/>
          </a:xfrm>
          <a:prstGeom prst="rect">
            <a:avLst/>
          </a:prstGeom>
          <a:noFill/>
        </p:spPr>
        <p:txBody>
          <a:bodyPr wrap="square"/>
          <a:lstStyle/>
          <a:p>
            <a:pPr algn="l">
              <a:spcBef>
                <a:spcPts val="0"/>
              </a:spcBef>
              <a:spcAft>
                <a:spcPts val="0"/>
              </a:spcAft>
              <a:defRPr sz="1800" b="0">
                <a:solidFill>
                  <a:srgbClr val="334255"/>
                </a:solidFill>
                <a:latin typeface="Calibri"/>
              </a:defRPr>
            </a:pPr>
            <a:r>
              <a:t>🏗️  Architecture — Component design, routing, state</a:t>
            </a:r>
          </a:p>
        </p:txBody>
      </p:sp>
      <p:sp>
        <p:nvSpPr>
          <p:cNvPr id="23" name="Rounded Rectangle 22"/>
          <p:cNvSpPr/>
          <p:nvPr/>
        </p:nvSpPr>
        <p:spPr>
          <a:xfrm>
            <a:off x="640080" y="6309360"/>
            <a:ext cx="1097280" cy="32004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309360"/>
            <a:ext cx="1097280" cy="320040"/>
          </a:xfrm>
          <a:prstGeom prst="rect">
            <a:avLst/>
          </a:prstGeom>
          <a:noFill/>
        </p:spPr>
        <p:txBody>
          <a:bodyPr wrap="square"/>
          <a:lstStyle/>
          <a:p>
            <a:pPr algn="ctr">
              <a:spcBef>
                <a:spcPts val="0"/>
              </a:spcBef>
              <a:spcAft>
                <a:spcPts val="0"/>
              </a:spcAft>
              <a:defRPr sz="1200" b="1">
                <a:solidFill>
                  <a:srgbClr val="64748B"/>
                </a:solidFill>
                <a:latin typeface="Calibri"/>
              </a:defRPr>
            </a:pPr>
            <a:r>
              <a:t>Python</a:t>
            </a:r>
          </a:p>
        </p:txBody>
      </p:sp>
      <p:sp>
        <p:nvSpPr>
          <p:cNvPr id="25" name="Rounded Rectangle 24"/>
          <p:cNvSpPr/>
          <p:nvPr/>
        </p:nvSpPr>
        <p:spPr>
          <a:xfrm>
            <a:off x="1874520" y="6309360"/>
            <a:ext cx="1097280" cy="32004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874520" y="6309360"/>
            <a:ext cx="1097280" cy="320040"/>
          </a:xfrm>
          <a:prstGeom prst="rect">
            <a:avLst/>
          </a:prstGeom>
          <a:noFill/>
        </p:spPr>
        <p:txBody>
          <a:bodyPr wrap="square"/>
          <a:lstStyle/>
          <a:p>
            <a:pPr algn="ctr">
              <a:spcBef>
                <a:spcPts val="0"/>
              </a:spcBef>
              <a:spcAft>
                <a:spcPts val="0"/>
              </a:spcAft>
              <a:defRPr sz="1200" b="1">
                <a:solidFill>
                  <a:srgbClr val="64748B"/>
                </a:solidFill>
                <a:latin typeface="Calibri"/>
              </a:defRPr>
            </a:pPr>
            <a:r>
              <a:t>FastAPI</a:t>
            </a:r>
          </a:p>
        </p:txBody>
      </p:sp>
      <p:sp>
        <p:nvSpPr>
          <p:cNvPr id="27" name="Rounded Rectangle 26"/>
          <p:cNvSpPr/>
          <p:nvPr/>
        </p:nvSpPr>
        <p:spPr>
          <a:xfrm>
            <a:off x="3108960" y="6309360"/>
            <a:ext cx="1097280" cy="32004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108960" y="6309360"/>
            <a:ext cx="1097280" cy="320040"/>
          </a:xfrm>
          <a:prstGeom prst="rect">
            <a:avLst/>
          </a:prstGeom>
          <a:noFill/>
        </p:spPr>
        <p:txBody>
          <a:bodyPr wrap="square"/>
          <a:lstStyle/>
          <a:p>
            <a:pPr algn="ctr">
              <a:spcBef>
                <a:spcPts val="0"/>
              </a:spcBef>
              <a:spcAft>
                <a:spcPts val="0"/>
              </a:spcAft>
              <a:defRPr sz="1200" b="1">
                <a:solidFill>
                  <a:srgbClr val="64748B"/>
                </a:solidFill>
                <a:latin typeface="Calibri"/>
              </a:defRPr>
            </a:pPr>
            <a:r>
              <a:t>React</a:t>
            </a:r>
          </a:p>
        </p:txBody>
      </p:sp>
      <p:sp>
        <p:nvSpPr>
          <p:cNvPr id="29" name="Rounded Rectangle 28"/>
          <p:cNvSpPr/>
          <p:nvPr/>
        </p:nvSpPr>
        <p:spPr>
          <a:xfrm>
            <a:off x="4343400" y="6309360"/>
            <a:ext cx="1097280" cy="32004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343400" y="6309360"/>
            <a:ext cx="1097280" cy="320040"/>
          </a:xfrm>
          <a:prstGeom prst="rect">
            <a:avLst/>
          </a:prstGeom>
          <a:noFill/>
        </p:spPr>
        <p:txBody>
          <a:bodyPr wrap="square"/>
          <a:lstStyle/>
          <a:p>
            <a:pPr algn="ctr">
              <a:spcBef>
                <a:spcPts val="0"/>
              </a:spcBef>
              <a:spcAft>
                <a:spcPts val="0"/>
              </a:spcAft>
              <a:defRPr sz="1200" b="1">
                <a:solidFill>
                  <a:srgbClr val="64748B"/>
                </a:solidFill>
                <a:latin typeface="Calibri"/>
              </a:defRPr>
            </a:pPr>
            <a:r>
              <a:t>TypeScript</a:t>
            </a:r>
          </a:p>
        </p:txBody>
      </p:sp>
      <p:sp>
        <p:nvSpPr>
          <p:cNvPr id="31" name="Rounded Rectangle 30"/>
          <p:cNvSpPr/>
          <p:nvPr/>
        </p:nvSpPr>
        <p:spPr>
          <a:xfrm>
            <a:off x="5577840" y="6309360"/>
            <a:ext cx="1097280" cy="32004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577840" y="6309360"/>
            <a:ext cx="1097280" cy="320040"/>
          </a:xfrm>
          <a:prstGeom prst="rect">
            <a:avLst/>
          </a:prstGeom>
          <a:noFill/>
        </p:spPr>
        <p:txBody>
          <a:bodyPr wrap="square"/>
          <a:lstStyle/>
          <a:p>
            <a:pPr algn="ctr">
              <a:spcBef>
                <a:spcPts val="0"/>
              </a:spcBef>
              <a:spcAft>
                <a:spcPts val="0"/>
              </a:spcAft>
              <a:defRPr sz="1200" b="1">
                <a:solidFill>
                  <a:srgbClr val="64748B"/>
                </a:solidFill>
                <a:latin typeface="Calibri"/>
              </a:defRPr>
            </a:pPr>
            <a:r>
              <a:t>MongoDB</a:t>
            </a:r>
          </a:p>
        </p:txBody>
      </p:sp>
      <p:sp>
        <p:nvSpPr>
          <p:cNvPr id="33" name="Rounded Rectangle 32"/>
          <p:cNvSpPr/>
          <p:nvPr/>
        </p:nvSpPr>
        <p:spPr>
          <a:xfrm>
            <a:off x="6812280" y="6309360"/>
            <a:ext cx="1097280" cy="32004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812280" y="6309360"/>
            <a:ext cx="1097280" cy="320040"/>
          </a:xfrm>
          <a:prstGeom prst="rect">
            <a:avLst/>
          </a:prstGeom>
          <a:noFill/>
        </p:spPr>
        <p:txBody>
          <a:bodyPr wrap="square"/>
          <a:lstStyle/>
          <a:p>
            <a:pPr algn="ctr">
              <a:spcBef>
                <a:spcPts val="0"/>
              </a:spcBef>
              <a:spcAft>
                <a:spcPts val="0"/>
              </a:spcAft>
              <a:defRPr sz="1200" b="1">
                <a:solidFill>
                  <a:srgbClr val="64748B"/>
                </a:solidFill>
                <a:latin typeface="Calibri"/>
              </a:defRPr>
            </a:pPr>
            <a:r>
              <a:t>Redpanda</a:t>
            </a:r>
          </a:p>
        </p:txBody>
      </p:sp>
      <p:sp>
        <p:nvSpPr>
          <p:cNvPr id="35" name="Rounded Rectangle 34"/>
          <p:cNvSpPr/>
          <p:nvPr/>
        </p:nvSpPr>
        <p:spPr>
          <a:xfrm>
            <a:off x="8046720" y="6309360"/>
            <a:ext cx="1097280" cy="32004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046720" y="6309360"/>
            <a:ext cx="1097280" cy="320040"/>
          </a:xfrm>
          <a:prstGeom prst="rect">
            <a:avLst/>
          </a:prstGeom>
          <a:noFill/>
        </p:spPr>
        <p:txBody>
          <a:bodyPr wrap="square"/>
          <a:lstStyle/>
          <a:p>
            <a:pPr algn="ctr">
              <a:spcBef>
                <a:spcPts val="0"/>
              </a:spcBef>
              <a:spcAft>
                <a:spcPts val="0"/>
              </a:spcAft>
              <a:defRPr sz="1200" b="1">
                <a:solidFill>
                  <a:srgbClr val="64748B"/>
                </a:solidFill>
                <a:latin typeface="Calibri"/>
              </a:defRPr>
            </a:pPr>
            <a:r>
              <a:t>Qdrant</a:t>
            </a:r>
          </a:p>
        </p:txBody>
      </p:sp>
      <p:sp>
        <p:nvSpPr>
          <p:cNvPr id="37" name="Rounded Rectangle 36"/>
          <p:cNvSpPr/>
          <p:nvPr/>
        </p:nvSpPr>
        <p:spPr>
          <a:xfrm>
            <a:off x="9281160" y="6309360"/>
            <a:ext cx="1097280" cy="32004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281160" y="6309360"/>
            <a:ext cx="1097280" cy="320040"/>
          </a:xfrm>
          <a:prstGeom prst="rect">
            <a:avLst/>
          </a:prstGeom>
          <a:noFill/>
        </p:spPr>
        <p:txBody>
          <a:bodyPr wrap="square"/>
          <a:lstStyle/>
          <a:p>
            <a:pPr algn="ctr">
              <a:spcBef>
                <a:spcPts val="0"/>
              </a:spcBef>
              <a:spcAft>
                <a:spcPts val="0"/>
              </a:spcAft>
              <a:defRPr sz="1200" b="1">
                <a:solidFill>
                  <a:srgbClr val="64748B"/>
                </a:solidFill>
                <a:latin typeface="Calibri"/>
              </a:defRPr>
            </a:pPr>
            <a:r>
              <a:t>Ollama</a:t>
            </a:r>
          </a:p>
        </p:txBody>
      </p:sp>
      <p:sp>
        <p:nvSpPr>
          <p:cNvPr id="39" name="Rounded Rectangle 38"/>
          <p:cNvSpPr/>
          <p:nvPr/>
        </p:nvSpPr>
        <p:spPr>
          <a:xfrm>
            <a:off x="10515600" y="6309360"/>
            <a:ext cx="1097280" cy="32004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515600" y="6309360"/>
            <a:ext cx="1097280" cy="320040"/>
          </a:xfrm>
          <a:prstGeom prst="rect">
            <a:avLst/>
          </a:prstGeom>
          <a:noFill/>
        </p:spPr>
        <p:txBody>
          <a:bodyPr wrap="square"/>
          <a:lstStyle/>
          <a:p>
            <a:pPr algn="ctr">
              <a:spcBef>
                <a:spcPts val="0"/>
              </a:spcBef>
              <a:spcAft>
                <a:spcPts val="0"/>
              </a:spcAft>
              <a:defRPr sz="1200" b="1">
                <a:solidFill>
                  <a:srgbClr val="64748B"/>
                </a:solidFill>
                <a:latin typeface="Calibri"/>
              </a:defRPr>
            </a:pPr>
            <a:r>
              <a:t>Docker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640080"/>
          </a:xfrm>
          <a:prstGeom prst="rect">
            <a:avLst/>
          </a:prstGeom>
          <a:noFill/>
        </p:spPr>
        <p:txBody>
          <a:bodyPr wrap="square"/>
          <a:lstStyle/>
          <a:p>
            <a:pPr algn="l">
              <a:spcBef>
                <a:spcPts val="0"/>
              </a:spcBef>
              <a:spcAft>
                <a:spcPts val="0"/>
              </a:spcAft>
              <a:defRPr sz="3600" b="1">
                <a:solidFill>
                  <a:srgbClr val="0F172A"/>
                </a:solidFill>
                <a:latin typeface="Calibri"/>
              </a:defRPr>
            </a:pPr>
            <a:r>
              <a:t>The Problem</a:t>
            </a:r>
          </a:p>
        </p:txBody>
      </p:sp>
      <p:sp>
        <p:nvSpPr>
          <p:cNvPr id="4" name="TextBox 3"/>
          <p:cNvSpPr txBox="1"/>
          <p:nvPr/>
        </p:nvSpPr>
        <p:spPr>
          <a:xfrm>
            <a:off x="640080" y="914400"/>
            <a:ext cx="10058400" cy="365760"/>
          </a:xfrm>
          <a:prstGeom prst="rect">
            <a:avLst/>
          </a:prstGeom>
          <a:noFill/>
        </p:spPr>
        <p:txBody>
          <a:bodyPr wrap="square"/>
          <a:lstStyle/>
          <a:p>
            <a:pPr algn="l">
              <a:spcBef>
                <a:spcPts val="0"/>
              </a:spcBef>
              <a:spcAft>
                <a:spcPts val="0"/>
              </a:spcAft>
              <a:defRPr sz="2200" b="0">
                <a:solidFill>
                  <a:srgbClr val="64748B"/>
                </a:solidFill>
                <a:latin typeface="Calibri"/>
              </a:defRPr>
            </a:pPr>
            <a:r>
              <a:t>Fragmented customer identities across devices and platforms</a:t>
            </a:r>
          </a:p>
        </p:txBody>
      </p:sp>
      <p:sp>
        <p:nvSpPr>
          <p:cNvPr id="5" name="Rounded Rectangle 4"/>
          <p:cNvSpPr/>
          <p:nvPr/>
        </p:nvSpPr>
        <p:spPr>
          <a:xfrm>
            <a:off x="640080" y="1645920"/>
            <a:ext cx="146304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828800"/>
            <a:ext cx="1463040" cy="640080"/>
          </a:xfrm>
          <a:prstGeom prst="rect">
            <a:avLst/>
          </a:prstGeom>
          <a:noFill/>
        </p:spPr>
        <p:txBody>
          <a:bodyPr wrap="square"/>
          <a:lstStyle/>
          <a:p>
            <a:pPr algn="ctr">
              <a:spcBef>
                <a:spcPts val="0"/>
              </a:spcBef>
              <a:spcAft>
                <a:spcPts val="0"/>
              </a:spcAft>
              <a:defRPr sz="3200" b="0">
                <a:solidFill>
                  <a:srgbClr val="0F172A"/>
                </a:solidFill>
                <a:latin typeface="Calibri"/>
              </a:defRPr>
            </a:pPr>
            <a:r>
              <a:t>📱</a:t>
            </a:r>
          </a:p>
        </p:txBody>
      </p:sp>
      <p:sp>
        <p:nvSpPr>
          <p:cNvPr id="7" name="TextBox 6"/>
          <p:cNvSpPr txBox="1"/>
          <p:nvPr/>
        </p:nvSpPr>
        <p:spPr>
          <a:xfrm>
            <a:off x="640080" y="2423160"/>
            <a:ext cx="1463040" cy="365760"/>
          </a:xfrm>
          <a:prstGeom prst="rect">
            <a:avLst/>
          </a:prstGeom>
          <a:noFill/>
        </p:spPr>
        <p:txBody>
          <a:bodyPr wrap="square"/>
          <a:lstStyle/>
          <a:p>
            <a:pPr algn="ctr">
              <a:spcBef>
                <a:spcPts val="0"/>
              </a:spcBef>
              <a:spcAft>
                <a:spcPts val="0"/>
              </a:spcAft>
              <a:defRPr sz="1600" b="1">
                <a:solidFill>
                  <a:srgbClr val="334255"/>
                </a:solidFill>
                <a:latin typeface="Calibri"/>
              </a:defRPr>
            </a:pPr>
            <a:r>
              <a:t>Phone</a:t>
            </a:r>
          </a:p>
        </p:txBody>
      </p:sp>
      <p:sp>
        <p:nvSpPr>
          <p:cNvPr id="8" name="Right Arrow 7"/>
          <p:cNvSpPr/>
          <p:nvPr/>
        </p:nvSpPr>
        <p:spPr>
          <a:xfrm>
            <a:off x="2148840" y="2148840"/>
            <a:ext cx="274320" cy="22860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468880" y="1645920"/>
            <a:ext cx="146304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68880" y="1828800"/>
            <a:ext cx="1463040" cy="640080"/>
          </a:xfrm>
          <a:prstGeom prst="rect">
            <a:avLst/>
          </a:prstGeom>
          <a:noFill/>
        </p:spPr>
        <p:txBody>
          <a:bodyPr wrap="square"/>
          <a:lstStyle/>
          <a:p>
            <a:pPr algn="ctr">
              <a:spcBef>
                <a:spcPts val="0"/>
              </a:spcBef>
              <a:spcAft>
                <a:spcPts val="0"/>
              </a:spcAft>
              <a:defRPr sz="3200" b="0">
                <a:solidFill>
                  <a:srgbClr val="0F172A"/>
                </a:solidFill>
                <a:latin typeface="Calibri"/>
              </a:defRPr>
            </a:pPr>
            <a:r>
              <a:t>💻</a:t>
            </a:r>
          </a:p>
        </p:txBody>
      </p:sp>
      <p:sp>
        <p:nvSpPr>
          <p:cNvPr id="11" name="TextBox 10"/>
          <p:cNvSpPr txBox="1"/>
          <p:nvPr/>
        </p:nvSpPr>
        <p:spPr>
          <a:xfrm>
            <a:off x="2468880" y="2423160"/>
            <a:ext cx="1463040" cy="365760"/>
          </a:xfrm>
          <a:prstGeom prst="rect">
            <a:avLst/>
          </a:prstGeom>
          <a:noFill/>
        </p:spPr>
        <p:txBody>
          <a:bodyPr wrap="square"/>
          <a:lstStyle/>
          <a:p>
            <a:pPr algn="ctr">
              <a:spcBef>
                <a:spcPts val="0"/>
              </a:spcBef>
              <a:spcAft>
                <a:spcPts val="0"/>
              </a:spcAft>
              <a:defRPr sz="1600" b="1">
                <a:solidFill>
                  <a:srgbClr val="334255"/>
                </a:solidFill>
                <a:latin typeface="Calibri"/>
              </a:defRPr>
            </a:pPr>
            <a:r>
              <a:t>Laptop</a:t>
            </a:r>
          </a:p>
        </p:txBody>
      </p:sp>
      <p:sp>
        <p:nvSpPr>
          <p:cNvPr id="12" name="Right Arrow 11"/>
          <p:cNvSpPr/>
          <p:nvPr/>
        </p:nvSpPr>
        <p:spPr>
          <a:xfrm>
            <a:off x="3977640" y="2148840"/>
            <a:ext cx="274320" cy="22860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297680" y="1645920"/>
            <a:ext cx="146304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97680" y="1828800"/>
            <a:ext cx="1463040" cy="640080"/>
          </a:xfrm>
          <a:prstGeom prst="rect">
            <a:avLst/>
          </a:prstGeom>
          <a:noFill/>
        </p:spPr>
        <p:txBody>
          <a:bodyPr wrap="square"/>
          <a:lstStyle/>
          <a:p>
            <a:pPr algn="ctr">
              <a:spcBef>
                <a:spcPts val="0"/>
              </a:spcBef>
              <a:spcAft>
                <a:spcPts val="0"/>
              </a:spcAft>
              <a:defRPr sz="3200" b="0">
                <a:solidFill>
                  <a:srgbClr val="0F172A"/>
                </a:solidFill>
                <a:latin typeface="Calibri"/>
              </a:defRPr>
            </a:pPr>
            <a:r>
              <a:t>📟</a:t>
            </a:r>
          </a:p>
        </p:txBody>
      </p:sp>
      <p:sp>
        <p:nvSpPr>
          <p:cNvPr id="15" name="TextBox 14"/>
          <p:cNvSpPr txBox="1"/>
          <p:nvPr/>
        </p:nvSpPr>
        <p:spPr>
          <a:xfrm>
            <a:off x="4297680" y="2423160"/>
            <a:ext cx="1463040" cy="365760"/>
          </a:xfrm>
          <a:prstGeom prst="rect">
            <a:avLst/>
          </a:prstGeom>
          <a:noFill/>
        </p:spPr>
        <p:txBody>
          <a:bodyPr wrap="square"/>
          <a:lstStyle/>
          <a:p>
            <a:pPr algn="ctr">
              <a:spcBef>
                <a:spcPts val="0"/>
              </a:spcBef>
              <a:spcAft>
                <a:spcPts val="0"/>
              </a:spcAft>
              <a:defRPr sz="1600" b="1">
                <a:solidFill>
                  <a:srgbClr val="334255"/>
                </a:solidFill>
                <a:latin typeface="Calibri"/>
              </a:defRPr>
            </a:pPr>
            <a:r>
              <a:t>Tablet</a:t>
            </a:r>
          </a:p>
        </p:txBody>
      </p:sp>
      <p:sp>
        <p:nvSpPr>
          <p:cNvPr id="16" name="Right Arrow 15"/>
          <p:cNvSpPr/>
          <p:nvPr/>
        </p:nvSpPr>
        <p:spPr>
          <a:xfrm>
            <a:off x="5806440" y="2148840"/>
            <a:ext cx="274320" cy="22860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126480" y="1645920"/>
            <a:ext cx="146304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26480" y="1828800"/>
            <a:ext cx="1463040" cy="640080"/>
          </a:xfrm>
          <a:prstGeom prst="rect">
            <a:avLst/>
          </a:prstGeom>
          <a:noFill/>
        </p:spPr>
        <p:txBody>
          <a:bodyPr wrap="square"/>
          <a:lstStyle/>
          <a:p>
            <a:pPr algn="ctr">
              <a:spcBef>
                <a:spcPts val="0"/>
              </a:spcBef>
              <a:spcAft>
                <a:spcPts val="0"/>
              </a:spcAft>
              <a:defRPr sz="3200" b="0">
                <a:solidFill>
                  <a:srgbClr val="0F172A"/>
                </a:solidFill>
                <a:latin typeface="Calibri"/>
              </a:defRPr>
            </a:pPr>
            <a:r>
              <a:t>🌐</a:t>
            </a:r>
          </a:p>
        </p:txBody>
      </p:sp>
      <p:sp>
        <p:nvSpPr>
          <p:cNvPr id="19" name="TextBox 18"/>
          <p:cNvSpPr txBox="1"/>
          <p:nvPr/>
        </p:nvSpPr>
        <p:spPr>
          <a:xfrm>
            <a:off x="6126480" y="2423160"/>
            <a:ext cx="1463040" cy="365760"/>
          </a:xfrm>
          <a:prstGeom prst="rect">
            <a:avLst/>
          </a:prstGeom>
          <a:noFill/>
        </p:spPr>
        <p:txBody>
          <a:bodyPr wrap="square"/>
          <a:lstStyle/>
          <a:p>
            <a:pPr algn="ctr">
              <a:spcBef>
                <a:spcPts val="0"/>
              </a:spcBef>
              <a:spcAft>
                <a:spcPts val="0"/>
              </a:spcAft>
              <a:defRPr sz="1600" b="1">
                <a:solidFill>
                  <a:srgbClr val="334255"/>
                </a:solidFill>
                <a:latin typeface="Calibri"/>
              </a:defRPr>
            </a:pPr>
            <a:r>
              <a:t>Website</a:t>
            </a:r>
          </a:p>
        </p:txBody>
      </p:sp>
      <p:sp>
        <p:nvSpPr>
          <p:cNvPr id="20" name="Right Arrow 19"/>
          <p:cNvSpPr/>
          <p:nvPr/>
        </p:nvSpPr>
        <p:spPr>
          <a:xfrm>
            <a:off x="7635240" y="2148840"/>
            <a:ext cx="274320" cy="22860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955280" y="1645920"/>
            <a:ext cx="146304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955280" y="1828800"/>
            <a:ext cx="1463040" cy="640080"/>
          </a:xfrm>
          <a:prstGeom prst="rect">
            <a:avLst/>
          </a:prstGeom>
          <a:noFill/>
        </p:spPr>
        <p:txBody>
          <a:bodyPr wrap="square"/>
          <a:lstStyle/>
          <a:p>
            <a:pPr algn="ctr">
              <a:spcBef>
                <a:spcPts val="0"/>
              </a:spcBef>
              <a:spcAft>
                <a:spcPts val="0"/>
              </a:spcAft>
              <a:defRPr sz="3200" b="0">
                <a:solidFill>
                  <a:srgbClr val="0F172A"/>
                </a:solidFill>
                <a:latin typeface="Calibri"/>
              </a:defRPr>
            </a:pPr>
            <a:r>
              <a:t>📲</a:t>
            </a:r>
          </a:p>
        </p:txBody>
      </p:sp>
      <p:sp>
        <p:nvSpPr>
          <p:cNvPr id="23" name="TextBox 22"/>
          <p:cNvSpPr txBox="1"/>
          <p:nvPr/>
        </p:nvSpPr>
        <p:spPr>
          <a:xfrm>
            <a:off x="7955280" y="2423160"/>
            <a:ext cx="1463040" cy="365760"/>
          </a:xfrm>
          <a:prstGeom prst="rect">
            <a:avLst/>
          </a:prstGeom>
          <a:noFill/>
        </p:spPr>
        <p:txBody>
          <a:bodyPr wrap="square"/>
          <a:lstStyle/>
          <a:p>
            <a:pPr algn="ctr">
              <a:spcBef>
                <a:spcPts val="0"/>
              </a:spcBef>
              <a:spcAft>
                <a:spcPts val="0"/>
              </a:spcAft>
              <a:defRPr sz="1600" b="1">
                <a:solidFill>
                  <a:srgbClr val="334255"/>
                </a:solidFill>
                <a:latin typeface="Calibri"/>
              </a:defRPr>
            </a:pPr>
            <a:r>
              <a:t>Mobile App</a:t>
            </a:r>
          </a:p>
        </p:txBody>
      </p:sp>
      <p:sp>
        <p:nvSpPr>
          <p:cNvPr id="24" name="Right Arrow 23"/>
          <p:cNvSpPr/>
          <p:nvPr/>
        </p:nvSpPr>
        <p:spPr>
          <a:xfrm>
            <a:off x="9464040" y="2148840"/>
            <a:ext cx="274320" cy="22860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9784080" y="1645920"/>
            <a:ext cx="146304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0" y="1828800"/>
            <a:ext cx="1463040" cy="640080"/>
          </a:xfrm>
          <a:prstGeom prst="rect">
            <a:avLst/>
          </a:prstGeom>
          <a:noFill/>
        </p:spPr>
        <p:txBody>
          <a:bodyPr wrap="square"/>
          <a:lstStyle/>
          <a:p>
            <a:pPr algn="ctr">
              <a:spcBef>
                <a:spcPts val="0"/>
              </a:spcBef>
              <a:spcAft>
                <a:spcPts val="0"/>
              </a:spcAft>
              <a:defRPr sz="3200" b="0">
                <a:solidFill>
                  <a:srgbClr val="0F172A"/>
                </a:solidFill>
                <a:latin typeface="Calibri"/>
              </a:defRPr>
            </a:pPr>
            <a:r>
              <a:t>🏪</a:t>
            </a:r>
          </a:p>
        </p:txBody>
      </p:sp>
      <p:sp>
        <p:nvSpPr>
          <p:cNvPr id="27" name="TextBox 26"/>
          <p:cNvSpPr txBox="1"/>
          <p:nvPr/>
        </p:nvSpPr>
        <p:spPr>
          <a:xfrm>
            <a:off x="9784080" y="2423160"/>
            <a:ext cx="1463040" cy="365760"/>
          </a:xfrm>
          <a:prstGeom prst="rect">
            <a:avLst/>
          </a:prstGeom>
          <a:noFill/>
        </p:spPr>
        <p:txBody>
          <a:bodyPr wrap="square"/>
          <a:lstStyle/>
          <a:p>
            <a:pPr algn="ctr">
              <a:spcBef>
                <a:spcPts val="0"/>
              </a:spcBef>
              <a:spcAft>
                <a:spcPts val="0"/>
              </a:spcAft>
              <a:defRPr sz="1600" b="1">
                <a:solidFill>
                  <a:srgbClr val="334255"/>
                </a:solidFill>
                <a:latin typeface="Calibri"/>
              </a:defRPr>
            </a:pPr>
            <a:r>
              <a:t>In-Store</a:t>
            </a:r>
          </a:p>
        </p:txBody>
      </p:sp>
      <p:cxnSp>
        <p:nvCxnSpPr>
          <p:cNvPr id="28" name="Connector 27"/>
          <p:cNvCxnSpPr/>
          <p:nvPr/>
        </p:nvCxnSpPr>
        <p:spPr>
          <a:xfrm>
            <a:off x="640080" y="3291840"/>
            <a:ext cx="1060704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40080" y="3474720"/>
            <a:ext cx="4572000" cy="457200"/>
          </a:xfrm>
          <a:prstGeom prst="rect">
            <a:avLst/>
          </a:prstGeom>
          <a:noFill/>
        </p:spPr>
        <p:txBody>
          <a:bodyPr wrap="square"/>
          <a:lstStyle/>
          <a:p>
            <a:pPr algn="l">
              <a:spcBef>
                <a:spcPts val="0"/>
              </a:spcBef>
              <a:spcAft>
                <a:spcPts val="0"/>
              </a:spcAft>
              <a:defRPr sz="2000" b="1">
                <a:solidFill>
                  <a:srgbClr val="DC2626"/>
                </a:solidFill>
                <a:latin typeface="Calibri"/>
              </a:defRPr>
            </a:pPr>
            <a:r>
              <a:rPr dirty="0"/>
              <a:t>Each touchpoint creates a separate,</a:t>
            </a:r>
            <a:r>
              <a:rPr lang="en-IN" dirty="0"/>
              <a:t> </a:t>
            </a:r>
            <a:r>
              <a:rPr dirty="0"/>
              <a:t>unlinked identity</a:t>
            </a:r>
          </a:p>
        </p:txBody>
      </p:sp>
      <p:sp>
        <p:nvSpPr>
          <p:cNvPr id="30" name="Rounded Rectangle 29"/>
          <p:cNvSpPr/>
          <p:nvPr/>
        </p:nvSpPr>
        <p:spPr>
          <a:xfrm>
            <a:off x="640080" y="4206240"/>
            <a:ext cx="24688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4251960"/>
            <a:ext cx="2468880" cy="457200"/>
          </a:xfrm>
          <a:prstGeom prst="rect">
            <a:avLst/>
          </a:prstGeom>
          <a:noFill/>
        </p:spPr>
        <p:txBody>
          <a:bodyPr wrap="square"/>
          <a:lstStyle/>
          <a:p>
            <a:pPr algn="ctr">
              <a:spcBef>
                <a:spcPts val="0"/>
              </a:spcBef>
              <a:spcAft>
                <a:spcPts val="0"/>
              </a:spcAft>
              <a:defRPr sz="2800" b="0">
                <a:solidFill>
                  <a:srgbClr val="0F172A"/>
                </a:solidFill>
                <a:latin typeface="Calibri"/>
              </a:defRPr>
            </a:pPr>
            <a:r>
              <a:t>👤</a:t>
            </a:r>
          </a:p>
        </p:txBody>
      </p:sp>
      <p:sp>
        <p:nvSpPr>
          <p:cNvPr id="32" name="TextBox 31"/>
          <p:cNvSpPr txBox="1"/>
          <p:nvPr/>
        </p:nvSpPr>
        <p:spPr>
          <a:xfrm>
            <a:off x="640080" y="4709160"/>
            <a:ext cx="2468880" cy="640080"/>
          </a:xfrm>
          <a:prstGeom prst="rect">
            <a:avLst/>
          </a:prstGeom>
          <a:noFill/>
        </p:spPr>
        <p:txBody>
          <a:bodyPr wrap="square"/>
          <a:lstStyle/>
          <a:p>
            <a:pPr algn="ctr">
              <a:spcBef>
                <a:spcPts val="0"/>
              </a:spcBef>
              <a:spcAft>
                <a:spcPts val="0"/>
              </a:spcAft>
              <a:defRPr sz="1800" b="1">
                <a:solidFill>
                  <a:srgbClr val="0F172A"/>
                </a:solidFill>
                <a:latin typeface="Calibri"/>
              </a:defRPr>
            </a:pPr>
            <a:r>
              <a:t>Duplicate</a:t>
            </a:r>
            <a:br/>
            <a:r>
              <a:t>Profiles</a:t>
            </a:r>
          </a:p>
        </p:txBody>
      </p:sp>
      <p:sp>
        <p:nvSpPr>
          <p:cNvPr id="33" name="TextBox 32"/>
          <p:cNvSpPr txBox="1"/>
          <p:nvPr/>
        </p:nvSpPr>
        <p:spPr>
          <a:xfrm>
            <a:off x="640080" y="5440680"/>
            <a:ext cx="2468880" cy="640080"/>
          </a:xfrm>
          <a:prstGeom prst="rect">
            <a:avLst/>
          </a:prstGeom>
          <a:noFill/>
        </p:spPr>
        <p:txBody>
          <a:bodyPr wrap="square"/>
          <a:lstStyle/>
          <a:p>
            <a:pPr algn="ctr">
              <a:spcBef>
                <a:spcPts val="0"/>
              </a:spcBef>
              <a:spcAft>
                <a:spcPts val="0"/>
              </a:spcAft>
              <a:defRPr sz="1400" b="0">
                <a:solidFill>
                  <a:srgbClr val="64748B"/>
                </a:solidFill>
                <a:latin typeface="Calibri"/>
              </a:defRPr>
            </a:pPr>
            <a:r>
              <a:t>Same customer appears</a:t>
            </a:r>
            <a:br/>
            <a:r>
              <a:t>as multiple identities</a:t>
            </a:r>
          </a:p>
        </p:txBody>
      </p:sp>
      <p:sp>
        <p:nvSpPr>
          <p:cNvPr id="34" name="Rounded Rectangle 33"/>
          <p:cNvSpPr/>
          <p:nvPr/>
        </p:nvSpPr>
        <p:spPr>
          <a:xfrm>
            <a:off x="3428999" y="4164227"/>
            <a:ext cx="24688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429000" y="4251960"/>
            <a:ext cx="2468880" cy="457200"/>
          </a:xfrm>
          <a:prstGeom prst="rect">
            <a:avLst/>
          </a:prstGeom>
          <a:noFill/>
        </p:spPr>
        <p:txBody>
          <a:bodyPr wrap="square"/>
          <a:lstStyle/>
          <a:p>
            <a:pPr algn="ctr">
              <a:spcBef>
                <a:spcPts val="0"/>
              </a:spcBef>
              <a:spcAft>
                <a:spcPts val="0"/>
              </a:spcAft>
              <a:defRPr sz="2800" b="0">
                <a:solidFill>
                  <a:srgbClr val="0F172A"/>
                </a:solidFill>
                <a:latin typeface="Calibri"/>
              </a:defRPr>
            </a:pPr>
            <a:r>
              <a:t>🎯</a:t>
            </a:r>
          </a:p>
        </p:txBody>
      </p:sp>
      <p:sp>
        <p:nvSpPr>
          <p:cNvPr id="36" name="TextBox 35"/>
          <p:cNvSpPr txBox="1"/>
          <p:nvPr/>
        </p:nvSpPr>
        <p:spPr>
          <a:xfrm>
            <a:off x="3429000" y="4709160"/>
            <a:ext cx="2468880" cy="640080"/>
          </a:xfrm>
          <a:prstGeom prst="rect">
            <a:avLst/>
          </a:prstGeom>
          <a:noFill/>
        </p:spPr>
        <p:txBody>
          <a:bodyPr wrap="square"/>
          <a:lstStyle/>
          <a:p>
            <a:pPr algn="ctr">
              <a:spcBef>
                <a:spcPts val="0"/>
              </a:spcBef>
              <a:spcAft>
                <a:spcPts val="0"/>
              </a:spcAft>
              <a:defRPr sz="1800" b="1">
                <a:solidFill>
                  <a:srgbClr val="0F172A"/>
                </a:solidFill>
                <a:latin typeface="Calibri"/>
              </a:defRPr>
            </a:pPr>
            <a:r>
              <a:t>Poor</a:t>
            </a:r>
            <a:br/>
            <a:r>
              <a:t>Personalization</a:t>
            </a:r>
          </a:p>
        </p:txBody>
      </p:sp>
      <p:sp>
        <p:nvSpPr>
          <p:cNvPr id="37" name="TextBox 36"/>
          <p:cNvSpPr txBox="1"/>
          <p:nvPr/>
        </p:nvSpPr>
        <p:spPr>
          <a:xfrm>
            <a:off x="3429000" y="5440680"/>
            <a:ext cx="2468880" cy="640080"/>
          </a:xfrm>
          <a:prstGeom prst="rect">
            <a:avLst/>
          </a:prstGeom>
          <a:noFill/>
        </p:spPr>
        <p:txBody>
          <a:bodyPr wrap="square"/>
          <a:lstStyle/>
          <a:p>
            <a:pPr algn="ctr">
              <a:spcBef>
                <a:spcPts val="0"/>
              </a:spcBef>
              <a:spcAft>
                <a:spcPts val="0"/>
              </a:spcAft>
              <a:defRPr sz="1400" b="0">
                <a:solidFill>
                  <a:srgbClr val="64748B"/>
                </a:solidFill>
                <a:latin typeface="Calibri"/>
              </a:defRPr>
            </a:pPr>
            <a:r>
              <a:t>No unified view for</a:t>
            </a:r>
            <a:br/>
            <a:r>
              <a:t>relevant recommendations</a:t>
            </a:r>
          </a:p>
        </p:txBody>
      </p:sp>
      <p:sp>
        <p:nvSpPr>
          <p:cNvPr id="38" name="Rounded Rectangle 37"/>
          <p:cNvSpPr/>
          <p:nvPr/>
        </p:nvSpPr>
        <p:spPr>
          <a:xfrm>
            <a:off x="6217920" y="4188941"/>
            <a:ext cx="24688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17920" y="4251960"/>
            <a:ext cx="2468880" cy="457200"/>
          </a:xfrm>
          <a:prstGeom prst="rect">
            <a:avLst/>
          </a:prstGeom>
          <a:noFill/>
        </p:spPr>
        <p:txBody>
          <a:bodyPr wrap="square"/>
          <a:lstStyle/>
          <a:p>
            <a:pPr algn="ctr">
              <a:spcBef>
                <a:spcPts val="0"/>
              </a:spcBef>
              <a:spcAft>
                <a:spcPts val="0"/>
              </a:spcAft>
              <a:defRPr sz="2800" b="0">
                <a:solidFill>
                  <a:srgbClr val="0F172A"/>
                </a:solidFill>
                <a:latin typeface="Calibri"/>
              </a:defRPr>
            </a:pPr>
            <a:r>
              <a:t>📉</a:t>
            </a:r>
          </a:p>
        </p:txBody>
      </p:sp>
      <p:sp>
        <p:nvSpPr>
          <p:cNvPr id="40" name="TextBox 39"/>
          <p:cNvSpPr txBox="1"/>
          <p:nvPr/>
        </p:nvSpPr>
        <p:spPr>
          <a:xfrm>
            <a:off x="6217920" y="4709160"/>
            <a:ext cx="2468880" cy="640080"/>
          </a:xfrm>
          <a:prstGeom prst="rect">
            <a:avLst/>
          </a:prstGeom>
          <a:noFill/>
        </p:spPr>
        <p:txBody>
          <a:bodyPr wrap="square"/>
          <a:lstStyle/>
          <a:p>
            <a:pPr algn="ctr">
              <a:spcBef>
                <a:spcPts val="0"/>
              </a:spcBef>
              <a:spcAft>
                <a:spcPts val="0"/>
              </a:spcAft>
              <a:defRPr sz="1800" b="1">
                <a:solidFill>
                  <a:srgbClr val="0F172A"/>
                </a:solidFill>
                <a:latin typeface="Calibri"/>
              </a:defRPr>
            </a:pPr>
            <a:r>
              <a:t>Low Marketing</a:t>
            </a:r>
            <a:br/>
            <a:r>
              <a:t>ROI</a:t>
            </a:r>
          </a:p>
        </p:txBody>
      </p:sp>
      <p:sp>
        <p:nvSpPr>
          <p:cNvPr id="41" name="TextBox 40"/>
          <p:cNvSpPr txBox="1"/>
          <p:nvPr/>
        </p:nvSpPr>
        <p:spPr>
          <a:xfrm>
            <a:off x="6217920" y="5440680"/>
            <a:ext cx="2468880" cy="640080"/>
          </a:xfrm>
          <a:prstGeom prst="rect">
            <a:avLst/>
          </a:prstGeom>
          <a:noFill/>
        </p:spPr>
        <p:txBody>
          <a:bodyPr wrap="square"/>
          <a:lstStyle/>
          <a:p>
            <a:pPr algn="ctr">
              <a:spcBef>
                <a:spcPts val="0"/>
              </a:spcBef>
              <a:spcAft>
                <a:spcPts val="0"/>
              </a:spcAft>
              <a:defRPr sz="1400" b="0">
                <a:solidFill>
                  <a:srgbClr val="64748B"/>
                </a:solidFill>
                <a:latin typeface="Calibri"/>
              </a:defRPr>
            </a:pPr>
            <a:r>
              <a:t>Wasted ad spend on</a:t>
            </a:r>
            <a:br/>
            <a:r>
              <a:t>fragmented audiences</a:t>
            </a:r>
          </a:p>
        </p:txBody>
      </p:sp>
      <p:sp>
        <p:nvSpPr>
          <p:cNvPr id="42" name="Rounded Rectangle 41"/>
          <p:cNvSpPr/>
          <p:nvPr/>
        </p:nvSpPr>
        <p:spPr>
          <a:xfrm>
            <a:off x="9043909" y="4183998"/>
            <a:ext cx="24688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006839" y="4251960"/>
            <a:ext cx="2468880" cy="457200"/>
          </a:xfrm>
          <a:prstGeom prst="rect">
            <a:avLst/>
          </a:prstGeom>
          <a:noFill/>
        </p:spPr>
        <p:txBody>
          <a:bodyPr wrap="square"/>
          <a:lstStyle/>
          <a:p>
            <a:pPr algn="ctr">
              <a:spcBef>
                <a:spcPts val="0"/>
              </a:spcBef>
              <a:spcAft>
                <a:spcPts val="0"/>
              </a:spcAft>
              <a:defRPr sz="2800" b="0">
                <a:solidFill>
                  <a:srgbClr val="0F172A"/>
                </a:solidFill>
                <a:latin typeface="Calibri"/>
              </a:defRPr>
            </a:pPr>
            <a:r>
              <a:t>🍪</a:t>
            </a:r>
          </a:p>
        </p:txBody>
      </p:sp>
      <p:sp>
        <p:nvSpPr>
          <p:cNvPr id="44" name="TextBox 43"/>
          <p:cNvSpPr txBox="1"/>
          <p:nvPr/>
        </p:nvSpPr>
        <p:spPr>
          <a:xfrm>
            <a:off x="9006839" y="4709160"/>
            <a:ext cx="2468880" cy="640080"/>
          </a:xfrm>
          <a:prstGeom prst="rect">
            <a:avLst/>
          </a:prstGeom>
          <a:noFill/>
        </p:spPr>
        <p:txBody>
          <a:bodyPr wrap="square"/>
          <a:lstStyle/>
          <a:p>
            <a:pPr algn="ctr">
              <a:spcBef>
                <a:spcPts val="0"/>
              </a:spcBef>
              <a:spcAft>
                <a:spcPts val="0"/>
              </a:spcAft>
              <a:defRPr sz="1800" b="1">
                <a:solidFill>
                  <a:srgbClr val="0F172A"/>
                </a:solidFill>
                <a:latin typeface="Calibri"/>
              </a:defRPr>
            </a:pPr>
            <a:r>
              <a:t>Cookie</a:t>
            </a:r>
            <a:br/>
            <a:r>
              <a:t>Deprecation</a:t>
            </a:r>
          </a:p>
        </p:txBody>
      </p:sp>
      <p:sp>
        <p:nvSpPr>
          <p:cNvPr id="45" name="TextBox 44"/>
          <p:cNvSpPr txBox="1"/>
          <p:nvPr/>
        </p:nvSpPr>
        <p:spPr>
          <a:xfrm>
            <a:off x="9006839" y="5440680"/>
            <a:ext cx="2468880" cy="640080"/>
          </a:xfrm>
          <a:prstGeom prst="rect">
            <a:avLst/>
          </a:prstGeom>
          <a:noFill/>
        </p:spPr>
        <p:txBody>
          <a:bodyPr wrap="square"/>
          <a:lstStyle/>
          <a:p>
            <a:pPr algn="ctr">
              <a:spcBef>
                <a:spcPts val="0"/>
              </a:spcBef>
              <a:spcAft>
                <a:spcPts val="0"/>
              </a:spcAft>
              <a:defRPr sz="1400" b="0">
                <a:solidFill>
                  <a:srgbClr val="64748B"/>
                </a:solidFill>
                <a:latin typeface="Calibri"/>
              </a:defRPr>
            </a:pPr>
            <a:r>
              <a:t>Third-party identifiers</a:t>
            </a:r>
            <a:br/>
            <a:r>
              <a:t>are disappearing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640080"/>
          </a:xfrm>
          <a:prstGeom prst="rect">
            <a:avLst/>
          </a:prstGeom>
          <a:noFill/>
        </p:spPr>
        <p:txBody>
          <a:bodyPr wrap="square"/>
          <a:lstStyle/>
          <a:p>
            <a:pPr algn="l">
              <a:spcBef>
                <a:spcPts val="0"/>
              </a:spcBef>
              <a:spcAft>
                <a:spcPts val="0"/>
              </a:spcAft>
              <a:defRPr sz="3600" b="1">
                <a:solidFill>
                  <a:srgbClr val="0F172A"/>
                </a:solidFill>
                <a:latin typeface="Calibri"/>
              </a:defRPr>
            </a:pPr>
            <a:r>
              <a:t>Business Context</a:t>
            </a:r>
          </a:p>
        </p:txBody>
      </p:sp>
      <p:sp>
        <p:nvSpPr>
          <p:cNvPr id="4" name="TextBox 3"/>
          <p:cNvSpPr txBox="1"/>
          <p:nvPr/>
        </p:nvSpPr>
        <p:spPr>
          <a:xfrm>
            <a:off x="640080" y="914400"/>
            <a:ext cx="10058400" cy="365760"/>
          </a:xfrm>
          <a:prstGeom prst="rect">
            <a:avLst/>
          </a:prstGeom>
          <a:noFill/>
        </p:spPr>
        <p:txBody>
          <a:bodyPr wrap="square"/>
          <a:lstStyle/>
          <a:p>
            <a:pPr algn="l">
              <a:spcBef>
                <a:spcPts val="0"/>
              </a:spcBef>
              <a:spcAft>
                <a:spcPts val="0"/>
              </a:spcAft>
              <a:defRPr sz="2200" b="0">
                <a:solidFill>
                  <a:srgbClr val="64748B"/>
                </a:solidFill>
                <a:latin typeface="Calibri"/>
              </a:defRPr>
            </a:pPr>
            <a:r>
              <a:t>Why enterprises need a modern Customer Data Platform</a:t>
            </a:r>
          </a:p>
        </p:txBody>
      </p:sp>
      <p:sp>
        <p:nvSpPr>
          <p:cNvPr id="5" name="Rounded Rectangle 4"/>
          <p:cNvSpPr/>
          <p:nvPr/>
        </p:nvSpPr>
        <p:spPr>
          <a:xfrm>
            <a:off x="640080" y="1645920"/>
            <a:ext cx="29260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645920"/>
            <a:ext cx="2926080" cy="5486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74520"/>
            <a:ext cx="2377440" cy="457200"/>
          </a:xfrm>
          <a:prstGeom prst="rect">
            <a:avLst/>
          </a:prstGeom>
          <a:noFill/>
        </p:spPr>
        <p:txBody>
          <a:bodyPr wrap="square"/>
          <a:lstStyle/>
          <a:p>
            <a:pPr algn="l">
              <a:spcBef>
                <a:spcPts val="0"/>
              </a:spcBef>
              <a:spcAft>
                <a:spcPts val="0"/>
              </a:spcAft>
              <a:defRPr sz="2000" b="1">
                <a:solidFill>
                  <a:srgbClr val="DC2626"/>
                </a:solidFill>
                <a:latin typeface="Calibri"/>
              </a:defRPr>
            </a:pPr>
            <a:r>
              <a:t>Business Pain Points</a:t>
            </a:r>
          </a:p>
        </p:txBody>
      </p:sp>
      <p:sp>
        <p:nvSpPr>
          <p:cNvPr id="8" name="TextBox 7"/>
          <p:cNvSpPr txBox="1"/>
          <p:nvPr/>
        </p:nvSpPr>
        <p:spPr>
          <a:xfrm>
            <a:off x="914400" y="2468880"/>
            <a:ext cx="2377440" cy="457200"/>
          </a:xfrm>
          <a:prstGeom prst="rect">
            <a:avLst/>
          </a:prstGeom>
          <a:noFill/>
        </p:spPr>
        <p:txBody>
          <a:bodyPr wrap="square"/>
          <a:lstStyle/>
          <a:p>
            <a:pPr algn="l">
              <a:spcBef>
                <a:spcPts val="0"/>
              </a:spcBef>
              <a:spcAft>
                <a:spcPts val="0"/>
              </a:spcAft>
              <a:defRPr sz="1600" b="0">
                <a:solidFill>
                  <a:srgbClr val="334255"/>
                </a:solidFill>
                <a:latin typeface="Calibri"/>
              </a:defRPr>
            </a:pPr>
            <a:r>
              <a:t>•  Customer identities scattered across silos</a:t>
            </a:r>
          </a:p>
        </p:txBody>
      </p:sp>
      <p:sp>
        <p:nvSpPr>
          <p:cNvPr id="9" name="TextBox 8"/>
          <p:cNvSpPr txBox="1"/>
          <p:nvPr/>
        </p:nvSpPr>
        <p:spPr>
          <a:xfrm>
            <a:off x="914400" y="3017520"/>
            <a:ext cx="2377440" cy="457200"/>
          </a:xfrm>
          <a:prstGeom prst="rect">
            <a:avLst/>
          </a:prstGeom>
          <a:noFill/>
        </p:spPr>
        <p:txBody>
          <a:bodyPr wrap="square"/>
          <a:lstStyle/>
          <a:p>
            <a:pPr algn="l">
              <a:spcBef>
                <a:spcPts val="0"/>
              </a:spcBef>
              <a:spcAft>
                <a:spcPts val="0"/>
              </a:spcAft>
              <a:defRPr sz="1600" b="0">
                <a:solidFill>
                  <a:srgbClr val="334255"/>
                </a:solidFill>
                <a:latin typeface="Calibri"/>
              </a:defRPr>
            </a:pPr>
            <a:r>
              <a:t>•  No single view of the customer journey</a:t>
            </a:r>
          </a:p>
        </p:txBody>
      </p:sp>
      <p:sp>
        <p:nvSpPr>
          <p:cNvPr id="10" name="TextBox 9"/>
          <p:cNvSpPr txBox="1"/>
          <p:nvPr/>
        </p:nvSpPr>
        <p:spPr>
          <a:xfrm>
            <a:off x="914400" y="3566160"/>
            <a:ext cx="2377440" cy="457200"/>
          </a:xfrm>
          <a:prstGeom prst="rect">
            <a:avLst/>
          </a:prstGeom>
          <a:noFill/>
        </p:spPr>
        <p:txBody>
          <a:bodyPr wrap="square"/>
          <a:lstStyle/>
          <a:p>
            <a:pPr algn="l">
              <a:spcBef>
                <a:spcPts val="0"/>
              </a:spcBef>
              <a:spcAft>
                <a:spcPts val="0"/>
              </a:spcAft>
              <a:defRPr sz="1600" b="0">
                <a:solidFill>
                  <a:srgbClr val="334255"/>
                </a:solidFill>
                <a:latin typeface="Calibri"/>
              </a:defRPr>
            </a:pPr>
            <a:r>
              <a:t>•  Marketing teams blind to cross-platform behavior</a:t>
            </a:r>
          </a:p>
        </p:txBody>
      </p:sp>
      <p:sp>
        <p:nvSpPr>
          <p:cNvPr id="11" name="TextBox 10"/>
          <p:cNvSpPr txBox="1"/>
          <p:nvPr/>
        </p:nvSpPr>
        <p:spPr>
          <a:xfrm>
            <a:off x="914400" y="4114799"/>
            <a:ext cx="2377440" cy="457200"/>
          </a:xfrm>
          <a:prstGeom prst="rect">
            <a:avLst/>
          </a:prstGeom>
          <a:noFill/>
        </p:spPr>
        <p:txBody>
          <a:bodyPr wrap="square"/>
          <a:lstStyle/>
          <a:p>
            <a:pPr algn="l">
              <a:spcBef>
                <a:spcPts val="0"/>
              </a:spcBef>
              <a:spcAft>
                <a:spcPts val="0"/>
              </a:spcAft>
              <a:defRPr sz="1600" b="0">
                <a:solidFill>
                  <a:srgbClr val="334255"/>
                </a:solidFill>
                <a:latin typeface="Calibri"/>
              </a:defRPr>
            </a:pPr>
            <a:r>
              <a:t>•  Manual identity stitching — error-prone &amp; slow</a:t>
            </a:r>
          </a:p>
        </p:txBody>
      </p:sp>
      <p:sp>
        <p:nvSpPr>
          <p:cNvPr id="12" name="TextBox 11"/>
          <p:cNvSpPr txBox="1"/>
          <p:nvPr/>
        </p:nvSpPr>
        <p:spPr>
          <a:xfrm>
            <a:off x="914400" y="4663440"/>
            <a:ext cx="2377440" cy="457200"/>
          </a:xfrm>
          <a:prstGeom prst="rect">
            <a:avLst/>
          </a:prstGeom>
          <a:noFill/>
        </p:spPr>
        <p:txBody>
          <a:bodyPr wrap="square"/>
          <a:lstStyle/>
          <a:p>
            <a:pPr algn="l">
              <a:spcBef>
                <a:spcPts val="0"/>
              </a:spcBef>
              <a:spcAft>
                <a:spcPts val="0"/>
              </a:spcAft>
              <a:defRPr sz="1600" b="0">
                <a:solidFill>
                  <a:srgbClr val="334255"/>
                </a:solidFill>
                <a:latin typeface="Calibri"/>
              </a:defRPr>
            </a:pPr>
            <a:r>
              <a:t>•  AI models trained on incomplete data</a:t>
            </a:r>
          </a:p>
        </p:txBody>
      </p:sp>
      <p:sp>
        <p:nvSpPr>
          <p:cNvPr id="13" name="Right Arrow 12"/>
          <p:cNvSpPr/>
          <p:nvPr/>
        </p:nvSpPr>
        <p:spPr>
          <a:xfrm>
            <a:off x="3657600" y="3291840"/>
            <a:ext cx="365760" cy="32004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206240" y="1645920"/>
            <a:ext cx="320040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206240" y="1645920"/>
            <a:ext cx="3200400"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80560" y="1874520"/>
            <a:ext cx="2651760" cy="457200"/>
          </a:xfrm>
          <a:prstGeom prst="rect">
            <a:avLst/>
          </a:prstGeom>
          <a:noFill/>
        </p:spPr>
        <p:txBody>
          <a:bodyPr wrap="square"/>
          <a:lstStyle/>
          <a:p>
            <a:pPr algn="l">
              <a:spcBef>
                <a:spcPts val="0"/>
              </a:spcBef>
              <a:spcAft>
                <a:spcPts val="0"/>
              </a:spcAft>
              <a:defRPr sz="2000" b="1">
                <a:solidFill>
                  <a:srgbClr val="2563EB"/>
                </a:solidFill>
                <a:latin typeface="Calibri"/>
              </a:defRPr>
            </a:pPr>
            <a:r>
              <a:t>Market Opportunity</a:t>
            </a:r>
          </a:p>
        </p:txBody>
      </p:sp>
      <p:sp>
        <p:nvSpPr>
          <p:cNvPr id="17" name="TextBox 16"/>
          <p:cNvSpPr txBox="1"/>
          <p:nvPr/>
        </p:nvSpPr>
        <p:spPr>
          <a:xfrm>
            <a:off x="4480560" y="2468880"/>
            <a:ext cx="2651760" cy="457200"/>
          </a:xfrm>
          <a:prstGeom prst="rect">
            <a:avLst/>
          </a:prstGeom>
          <a:noFill/>
        </p:spPr>
        <p:txBody>
          <a:bodyPr wrap="square"/>
          <a:lstStyle/>
          <a:p>
            <a:pPr algn="l">
              <a:spcBef>
                <a:spcPts val="0"/>
              </a:spcBef>
              <a:spcAft>
                <a:spcPts val="0"/>
              </a:spcAft>
              <a:defRPr sz="1600" b="0">
                <a:solidFill>
                  <a:srgbClr val="334255"/>
                </a:solidFill>
                <a:latin typeface="Calibri"/>
              </a:defRPr>
            </a:pPr>
            <a:r>
              <a:t>•  CDP market projected to reach $28B by 2028</a:t>
            </a:r>
          </a:p>
        </p:txBody>
      </p:sp>
      <p:sp>
        <p:nvSpPr>
          <p:cNvPr id="18" name="TextBox 17"/>
          <p:cNvSpPr txBox="1"/>
          <p:nvPr/>
        </p:nvSpPr>
        <p:spPr>
          <a:xfrm>
            <a:off x="4480560" y="3017520"/>
            <a:ext cx="2651760" cy="457200"/>
          </a:xfrm>
          <a:prstGeom prst="rect">
            <a:avLst/>
          </a:prstGeom>
          <a:noFill/>
        </p:spPr>
        <p:txBody>
          <a:bodyPr wrap="square"/>
          <a:lstStyle/>
          <a:p>
            <a:pPr algn="l">
              <a:spcBef>
                <a:spcPts val="0"/>
              </a:spcBef>
              <a:spcAft>
                <a:spcPts val="0"/>
              </a:spcAft>
              <a:defRPr sz="1600" b="0">
                <a:solidFill>
                  <a:srgbClr val="334255"/>
                </a:solidFill>
                <a:latin typeface="Calibri"/>
              </a:defRPr>
            </a:pPr>
            <a:r>
              <a:t>•  73% of consumers expect personalized experiences</a:t>
            </a:r>
          </a:p>
        </p:txBody>
      </p:sp>
      <p:sp>
        <p:nvSpPr>
          <p:cNvPr id="19" name="TextBox 18"/>
          <p:cNvSpPr txBox="1"/>
          <p:nvPr/>
        </p:nvSpPr>
        <p:spPr>
          <a:xfrm>
            <a:off x="4480560" y="3566160"/>
            <a:ext cx="2651760" cy="457200"/>
          </a:xfrm>
          <a:prstGeom prst="rect">
            <a:avLst/>
          </a:prstGeom>
          <a:noFill/>
        </p:spPr>
        <p:txBody>
          <a:bodyPr wrap="square"/>
          <a:lstStyle/>
          <a:p>
            <a:pPr algn="l">
              <a:spcBef>
                <a:spcPts val="0"/>
              </a:spcBef>
              <a:spcAft>
                <a:spcPts val="0"/>
              </a:spcAft>
              <a:defRPr sz="1600" b="0">
                <a:solidFill>
                  <a:srgbClr val="334255"/>
                </a:solidFill>
                <a:latin typeface="Calibri"/>
              </a:defRPr>
            </a:pPr>
            <a:r>
              <a:t>•  Retail &amp; E-commerce: biggest adoption drivers</a:t>
            </a:r>
          </a:p>
        </p:txBody>
      </p:sp>
      <p:sp>
        <p:nvSpPr>
          <p:cNvPr id="20" name="TextBox 19"/>
          <p:cNvSpPr txBox="1"/>
          <p:nvPr/>
        </p:nvSpPr>
        <p:spPr>
          <a:xfrm>
            <a:off x="4480560" y="4114799"/>
            <a:ext cx="2651760" cy="457200"/>
          </a:xfrm>
          <a:prstGeom prst="rect">
            <a:avLst/>
          </a:prstGeom>
          <a:noFill/>
        </p:spPr>
        <p:txBody>
          <a:bodyPr wrap="square"/>
          <a:lstStyle/>
          <a:p>
            <a:pPr algn="l">
              <a:spcBef>
                <a:spcPts val="0"/>
              </a:spcBef>
              <a:spcAft>
                <a:spcPts val="0"/>
              </a:spcAft>
              <a:defRPr sz="1600" b="0">
                <a:solidFill>
                  <a:srgbClr val="334255"/>
                </a:solidFill>
                <a:latin typeface="Calibri"/>
              </a:defRPr>
            </a:pPr>
            <a:r>
              <a:t>•  Cookie deprecation creates urgent need</a:t>
            </a:r>
          </a:p>
        </p:txBody>
      </p:sp>
      <p:sp>
        <p:nvSpPr>
          <p:cNvPr id="21" name="TextBox 20"/>
          <p:cNvSpPr txBox="1"/>
          <p:nvPr/>
        </p:nvSpPr>
        <p:spPr>
          <a:xfrm>
            <a:off x="4480560" y="4663440"/>
            <a:ext cx="2651760" cy="457200"/>
          </a:xfrm>
          <a:prstGeom prst="rect">
            <a:avLst/>
          </a:prstGeom>
          <a:noFill/>
        </p:spPr>
        <p:txBody>
          <a:bodyPr wrap="square"/>
          <a:lstStyle/>
          <a:p>
            <a:pPr algn="l">
              <a:spcBef>
                <a:spcPts val="0"/>
              </a:spcBef>
              <a:spcAft>
                <a:spcPts val="0"/>
              </a:spcAft>
              <a:defRPr sz="1600" b="0">
                <a:solidFill>
                  <a:srgbClr val="334255"/>
                </a:solidFill>
                <a:latin typeface="Calibri"/>
              </a:defRPr>
            </a:pPr>
            <a:r>
              <a:t>•  AI-powered CDPs: fastest growing segment</a:t>
            </a:r>
          </a:p>
        </p:txBody>
      </p:sp>
      <p:sp>
        <p:nvSpPr>
          <p:cNvPr id="22" name="Right Arrow 21"/>
          <p:cNvSpPr/>
          <p:nvPr/>
        </p:nvSpPr>
        <p:spPr>
          <a:xfrm>
            <a:off x="7498080" y="3291840"/>
            <a:ext cx="365760" cy="320040"/>
          </a:xfrm>
          <a:prstGeom prst="right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046720" y="1645920"/>
            <a:ext cx="256032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046720" y="1645920"/>
            <a:ext cx="2560320"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21040" y="1874520"/>
            <a:ext cx="2011680" cy="457200"/>
          </a:xfrm>
          <a:prstGeom prst="rect">
            <a:avLst/>
          </a:prstGeom>
          <a:noFill/>
        </p:spPr>
        <p:txBody>
          <a:bodyPr wrap="square"/>
          <a:lstStyle/>
          <a:p>
            <a:pPr algn="l">
              <a:spcBef>
                <a:spcPts val="0"/>
              </a:spcBef>
              <a:spcAft>
                <a:spcPts val="0"/>
              </a:spcAft>
              <a:defRPr sz="2000" b="1">
                <a:solidFill>
                  <a:srgbClr val="059669"/>
                </a:solidFill>
                <a:latin typeface="Calibri"/>
              </a:defRPr>
            </a:pPr>
            <a:r>
              <a:t>Business Impact</a:t>
            </a:r>
          </a:p>
        </p:txBody>
      </p:sp>
      <p:sp>
        <p:nvSpPr>
          <p:cNvPr id="26" name="TextBox 25"/>
          <p:cNvSpPr txBox="1"/>
          <p:nvPr/>
        </p:nvSpPr>
        <p:spPr>
          <a:xfrm>
            <a:off x="8321040" y="2468880"/>
            <a:ext cx="2011680" cy="457200"/>
          </a:xfrm>
          <a:prstGeom prst="rect">
            <a:avLst/>
          </a:prstGeom>
          <a:noFill/>
        </p:spPr>
        <p:txBody>
          <a:bodyPr wrap="square"/>
          <a:lstStyle/>
          <a:p>
            <a:pPr algn="l">
              <a:spcBef>
                <a:spcPts val="0"/>
              </a:spcBef>
              <a:spcAft>
                <a:spcPts val="0"/>
              </a:spcAft>
              <a:defRPr sz="1600" b="0">
                <a:solidFill>
                  <a:srgbClr val="334255"/>
                </a:solidFill>
                <a:latin typeface="Calibri"/>
              </a:defRPr>
            </a:pPr>
            <a:r>
              <a:t>•  Up to 30% increase in marketing ROI</a:t>
            </a:r>
          </a:p>
        </p:txBody>
      </p:sp>
      <p:sp>
        <p:nvSpPr>
          <p:cNvPr id="27" name="TextBox 26"/>
          <p:cNvSpPr txBox="1"/>
          <p:nvPr/>
        </p:nvSpPr>
        <p:spPr>
          <a:xfrm>
            <a:off x="8321040" y="3017520"/>
            <a:ext cx="2011680" cy="457200"/>
          </a:xfrm>
          <a:prstGeom prst="rect">
            <a:avLst/>
          </a:prstGeom>
          <a:noFill/>
        </p:spPr>
        <p:txBody>
          <a:bodyPr wrap="square"/>
          <a:lstStyle/>
          <a:p>
            <a:pPr algn="l">
              <a:spcBef>
                <a:spcPts val="0"/>
              </a:spcBef>
              <a:spcAft>
                <a:spcPts val="0"/>
              </a:spcAft>
              <a:defRPr sz="1600" b="0">
                <a:solidFill>
                  <a:srgbClr val="334255"/>
                </a:solidFill>
                <a:latin typeface="Calibri"/>
              </a:defRPr>
            </a:pPr>
            <a:r>
              <a:t>•  2x improvement in recommendation accuracy</a:t>
            </a:r>
          </a:p>
        </p:txBody>
      </p:sp>
      <p:sp>
        <p:nvSpPr>
          <p:cNvPr id="28" name="TextBox 27"/>
          <p:cNvSpPr txBox="1"/>
          <p:nvPr/>
        </p:nvSpPr>
        <p:spPr>
          <a:xfrm>
            <a:off x="8321040" y="3566160"/>
            <a:ext cx="2011680" cy="457200"/>
          </a:xfrm>
          <a:prstGeom prst="rect">
            <a:avLst/>
          </a:prstGeom>
          <a:noFill/>
        </p:spPr>
        <p:txBody>
          <a:bodyPr wrap="square"/>
          <a:lstStyle/>
          <a:p>
            <a:pPr algn="l">
              <a:spcBef>
                <a:spcPts val="0"/>
              </a:spcBef>
              <a:spcAft>
                <a:spcPts val="0"/>
              </a:spcAft>
              <a:defRPr sz="1600" b="0">
                <a:solidFill>
                  <a:srgbClr val="334255"/>
                </a:solidFill>
                <a:latin typeface="Calibri"/>
              </a:defRPr>
            </a:pPr>
            <a:r>
              <a:t>•  Real-time unified customer profiles</a:t>
            </a:r>
          </a:p>
        </p:txBody>
      </p:sp>
      <p:sp>
        <p:nvSpPr>
          <p:cNvPr id="29" name="TextBox 28"/>
          <p:cNvSpPr txBox="1"/>
          <p:nvPr/>
        </p:nvSpPr>
        <p:spPr>
          <a:xfrm>
            <a:off x="8321040" y="4114799"/>
            <a:ext cx="2011680" cy="457200"/>
          </a:xfrm>
          <a:prstGeom prst="rect">
            <a:avLst/>
          </a:prstGeom>
          <a:noFill/>
        </p:spPr>
        <p:txBody>
          <a:bodyPr wrap="square"/>
          <a:lstStyle/>
          <a:p>
            <a:pPr algn="l">
              <a:spcBef>
                <a:spcPts val="0"/>
              </a:spcBef>
              <a:spcAft>
                <a:spcPts val="0"/>
              </a:spcAft>
              <a:defRPr sz="1600" b="0">
                <a:solidFill>
                  <a:srgbClr val="334255"/>
                </a:solidFill>
                <a:latin typeface="Calibri"/>
              </a:defRPr>
            </a:pPr>
            <a:r>
              <a:t>•  Privacy-compliant architecture</a:t>
            </a:r>
          </a:p>
        </p:txBody>
      </p:sp>
      <p:sp>
        <p:nvSpPr>
          <p:cNvPr id="30" name="TextBox 29"/>
          <p:cNvSpPr txBox="1"/>
          <p:nvPr/>
        </p:nvSpPr>
        <p:spPr>
          <a:xfrm>
            <a:off x="8321040" y="4663440"/>
            <a:ext cx="2011680" cy="457200"/>
          </a:xfrm>
          <a:prstGeom prst="rect">
            <a:avLst/>
          </a:prstGeom>
          <a:noFill/>
        </p:spPr>
        <p:txBody>
          <a:bodyPr wrap="square"/>
          <a:lstStyle/>
          <a:p>
            <a:pPr algn="l">
              <a:spcBef>
                <a:spcPts val="0"/>
              </a:spcBef>
              <a:spcAft>
                <a:spcPts val="0"/>
              </a:spcAft>
              <a:defRPr sz="1600" b="0">
                <a:solidFill>
                  <a:srgbClr val="334255"/>
                </a:solidFill>
                <a:latin typeface="Calibri"/>
              </a:defRPr>
            </a:pPr>
            <a:r>
              <a:t>•  Scalable to millions of customers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640080"/>
          </a:xfrm>
          <a:prstGeom prst="rect">
            <a:avLst/>
          </a:prstGeom>
          <a:noFill/>
        </p:spPr>
        <p:txBody>
          <a:bodyPr wrap="square"/>
          <a:lstStyle/>
          <a:p>
            <a:pPr algn="l">
              <a:spcBef>
                <a:spcPts val="0"/>
              </a:spcBef>
              <a:spcAft>
                <a:spcPts val="0"/>
              </a:spcAft>
              <a:defRPr sz="3600" b="1">
                <a:solidFill>
                  <a:srgbClr val="0F172A"/>
                </a:solidFill>
                <a:latin typeface="Calibri"/>
              </a:defRPr>
            </a:pPr>
            <a:r>
              <a:t>Solution Overview</a:t>
            </a:r>
          </a:p>
        </p:txBody>
      </p:sp>
      <p:sp>
        <p:nvSpPr>
          <p:cNvPr id="4" name="TextBox 3"/>
          <p:cNvSpPr txBox="1"/>
          <p:nvPr/>
        </p:nvSpPr>
        <p:spPr>
          <a:xfrm>
            <a:off x="640080" y="914400"/>
            <a:ext cx="10058400" cy="365760"/>
          </a:xfrm>
          <a:prstGeom prst="rect">
            <a:avLst/>
          </a:prstGeom>
          <a:noFill/>
        </p:spPr>
        <p:txBody>
          <a:bodyPr wrap="square"/>
          <a:lstStyle/>
          <a:p>
            <a:pPr algn="l">
              <a:spcBef>
                <a:spcPts val="0"/>
              </a:spcBef>
              <a:spcAft>
                <a:spcPts val="0"/>
              </a:spcAft>
              <a:defRPr sz="2200" b="0">
                <a:solidFill>
                  <a:srgbClr val="64748B"/>
                </a:solidFill>
                <a:latin typeface="Calibri"/>
              </a:defRPr>
            </a:pPr>
            <a:r>
              <a:t>End-to-end pipeline from data ingestion to AI-generated advertisements</a:t>
            </a:r>
          </a:p>
        </p:txBody>
      </p:sp>
      <p:sp>
        <p:nvSpPr>
          <p:cNvPr id="5" name="Rounded Rectangle 4"/>
          <p:cNvSpPr/>
          <p:nvPr/>
        </p:nvSpPr>
        <p:spPr>
          <a:xfrm>
            <a:off x="457200" y="1554480"/>
            <a:ext cx="118872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737360"/>
            <a:ext cx="1188720" cy="457200"/>
          </a:xfrm>
          <a:prstGeom prst="rect">
            <a:avLst/>
          </a:prstGeom>
          <a:noFill/>
        </p:spPr>
        <p:txBody>
          <a:bodyPr wrap="square"/>
          <a:lstStyle/>
          <a:p>
            <a:pPr algn="ctr">
              <a:spcBef>
                <a:spcPts val="0"/>
              </a:spcBef>
              <a:spcAft>
                <a:spcPts val="0"/>
              </a:spcAft>
              <a:defRPr sz="2800" b="0">
                <a:solidFill>
                  <a:srgbClr val="0F172A"/>
                </a:solidFill>
                <a:latin typeface="Calibri"/>
              </a:defRPr>
            </a:pPr>
            <a:r>
              <a:t>📊</a:t>
            </a:r>
          </a:p>
        </p:txBody>
      </p:sp>
      <p:sp>
        <p:nvSpPr>
          <p:cNvPr id="7" name="TextBox 6"/>
          <p:cNvSpPr txBox="1"/>
          <p:nvPr/>
        </p:nvSpPr>
        <p:spPr>
          <a:xfrm>
            <a:off x="548640" y="2194560"/>
            <a:ext cx="1005840" cy="640080"/>
          </a:xfrm>
          <a:prstGeom prst="rect">
            <a:avLst/>
          </a:prstGeom>
          <a:noFill/>
        </p:spPr>
        <p:txBody>
          <a:bodyPr wrap="square"/>
          <a:lstStyle/>
          <a:p>
            <a:pPr algn="ctr">
              <a:spcBef>
                <a:spcPts val="0"/>
              </a:spcBef>
              <a:spcAft>
                <a:spcPts val="0"/>
              </a:spcAft>
              <a:defRPr sz="1400" b="1">
                <a:solidFill>
                  <a:srgbClr val="0F172A"/>
                </a:solidFill>
                <a:latin typeface="Calibri"/>
              </a:defRPr>
            </a:pPr>
            <a:r>
              <a:t>Synthetic</a:t>
            </a:r>
            <a:br/>
            <a:r>
              <a:t>Data</a:t>
            </a:r>
          </a:p>
        </p:txBody>
      </p:sp>
      <p:sp>
        <p:nvSpPr>
          <p:cNvPr id="8" name="TextBox 7"/>
          <p:cNvSpPr txBox="1"/>
          <p:nvPr/>
        </p:nvSpPr>
        <p:spPr>
          <a:xfrm>
            <a:off x="548640" y="2971800"/>
            <a:ext cx="1005840" cy="640080"/>
          </a:xfrm>
          <a:prstGeom prst="rect">
            <a:avLst/>
          </a:prstGeom>
          <a:noFill/>
        </p:spPr>
        <p:txBody>
          <a:bodyPr wrap="square"/>
          <a:lstStyle/>
          <a:p>
            <a:pPr algn="ctr">
              <a:spcBef>
                <a:spcPts val="0"/>
              </a:spcBef>
              <a:spcAft>
                <a:spcPts val="0"/>
              </a:spcAft>
              <a:defRPr sz="1100" b="0">
                <a:solidFill>
                  <a:srgbClr val="64748B"/>
                </a:solidFill>
                <a:latin typeface="Calibri"/>
              </a:defRPr>
            </a:pPr>
            <a:r>
              <a:t>Multi-platform</a:t>
            </a:r>
            <a:br/>
            <a:r>
              <a:t>clickstream generator</a:t>
            </a:r>
          </a:p>
        </p:txBody>
      </p:sp>
      <p:sp>
        <p:nvSpPr>
          <p:cNvPr id="9" name="Right Arrow 8"/>
          <p:cNvSpPr/>
          <p:nvPr/>
        </p:nvSpPr>
        <p:spPr>
          <a:xfrm>
            <a:off x="1664208" y="2286000"/>
            <a:ext cx="73152" cy="22860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737360" y="1554480"/>
            <a:ext cx="118872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737360" y="1737360"/>
            <a:ext cx="1188720" cy="457200"/>
          </a:xfrm>
          <a:prstGeom prst="rect">
            <a:avLst/>
          </a:prstGeom>
          <a:noFill/>
        </p:spPr>
        <p:txBody>
          <a:bodyPr wrap="square"/>
          <a:lstStyle/>
          <a:p>
            <a:pPr algn="ctr">
              <a:spcBef>
                <a:spcPts val="0"/>
              </a:spcBef>
              <a:spcAft>
                <a:spcPts val="0"/>
              </a:spcAft>
              <a:defRPr sz="2800" b="0">
                <a:solidFill>
                  <a:srgbClr val="0F172A"/>
                </a:solidFill>
                <a:latin typeface="Calibri"/>
              </a:defRPr>
            </a:pPr>
            <a:r>
              <a:t>📨</a:t>
            </a:r>
          </a:p>
        </p:txBody>
      </p:sp>
      <p:sp>
        <p:nvSpPr>
          <p:cNvPr id="12" name="TextBox 11"/>
          <p:cNvSpPr txBox="1"/>
          <p:nvPr/>
        </p:nvSpPr>
        <p:spPr>
          <a:xfrm>
            <a:off x="1828800" y="2194560"/>
            <a:ext cx="1005840" cy="640080"/>
          </a:xfrm>
          <a:prstGeom prst="rect">
            <a:avLst/>
          </a:prstGeom>
          <a:noFill/>
        </p:spPr>
        <p:txBody>
          <a:bodyPr wrap="square"/>
          <a:lstStyle/>
          <a:p>
            <a:pPr algn="ctr">
              <a:spcBef>
                <a:spcPts val="0"/>
              </a:spcBef>
              <a:spcAft>
                <a:spcPts val="0"/>
              </a:spcAft>
              <a:defRPr sz="1400" b="1">
                <a:solidFill>
                  <a:srgbClr val="0F172A"/>
                </a:solidFill>
                <a:latin typeface="Calibri"/>
              </a:defRPr>
            </a:pPr>
            <a:r>
              <a:t>Event</a:t>
            </a:r>
            <a:br/>
            <a:r>
              <a:t>Streaming</a:t>
            </a:r>
          </a:p>
        </p:txBody>
      </p:sp>
      <p:sp>
        <p:nvSpPr>
          <p:cNvPr id="13" name="TextBox 12"/>
          <p:cNvSpPr txBox="1"/>
          <p:nvPr/>
        </p:nvSpPr>
        <p:spPr>
          <a:xfrm>
            <a:off x="1828800" y="2971800"/>
            <a:ext cx="1005840" cy="640080"/>
          </a:xfrm>
          <a:prstGeom prst="rect">
            <a:avLst/>
          </a:prstGeom>
          <a:noFill/>
        </p:spPr>
        <p:txBody>
          <a:bodyPr wrap="square"/>
          <a:lstStyle/>
          <a:p>
            <a:pPr algn="ctr">
              <a:spcBef>
                <a:spcPts val="0"/>
              </a:spcBef>
              <a:spcAft>
                <a:spcPts val="0"/>
              </a:spcAft>
              <a:defRPr sz="1100" b="0">
                <a:solidFill>
                  <a:srgbClr val="64748B"/>
                </a:solidFill>
                <a:latin typeface="Calibri"/>
              </a:defRPr>
            </a:pPr>
            <a:r>
              <a:t>Redpanda Kafka</a:t>
            </a:r>
            <a:br/>
            <a:r>
              <a:t>message broker</a:t>
            </a:r>
          </a:p>
        </p:txBody>
      </p:sp>
      <p:sp>
        <p:nvSpPr>
          <p:cNvPr id="14" name="Right Arrow 13"/>
          <p:cNvSpPr/>
          <p:nvPr/>
        </p:nvSpPr>
        <p:spPr>
          <a:xfrm>
            <a:off x="2944368" y="2286000"/>
            <a:ext cx="73152" cy="22860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017520" y="1554480"/>
            <a:ext cx="118872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017520" y="1737360"/>
            <a:ext cx="1188720" cy="457200"/>
          </a:xfrm>
          <a:prstGeom prst="rect">
            <a:avLst/>
          </a:prstGeom>
          <a:noFill/>
        </p:spPr>
        <p:txBody>
          <a:bodyPr wrap="square"/>
          <a:lstStyle/>
          <a:p>
            <a:pPr algn="ctr">
              <a:spcBef>
                <a:spcPts val="0"/>
              </a:spcBef>
              <a:spcAft>
                <a:spcPts val="0"/>
              </a:spcAft>
              <a:defRPr sz="2800" b="0">
                <a:solidFill>
                  <a:srgbClr val="0F172A"/>
                </a:solidFill>
                <a:latin typeface="Calibri"/>
              </a:defRPr>
            </a:pPr>
            <a:r>
              <a:t>🔗</a:t>
            </a:r>
          </a:p>
        </p:txBody>
      </p:sp>
      <p:sp>
        <p:nvSpPr>
          <p:cNvPr id="17" name="TextBox 16"/>
          <p:cNvSpPr txBox="1"/>
          <p:nvPr/>
        </p:nvSpPr>
        <p:spPr>
          <a:xfrm>
            <a:off x="3108960" y="2194560"/>
            <a:ext cx="1005840" cy="640080"/>
          </a:xfrm>
          <a:prstGeom prst="rect">
            <a:avLst/>
          </a:prstGeom>
          <a:noFill/>
        </p:spPr>
        <p:txBody>
          <a:bodyPr wrap="square"/>
          <a:lstStyle/>
          <a:p>
            <a:pPr algn="ctr">
              <a:spcBef>
                <a:spcPts val="0"/>
              </a:spcBef>
              <a:spcAft>
                <a:spcPts val="0"/>
              </a:spcAft>
              <a:defRPr sz="1400" b="1">
                <a:solidFill>
                  <a:srgbClr val="0F172A"/>
                </a:solidFill>
                <a:latin typeface="Calibri"/>
              </a:defRPr>
            </a:pPr>
            <a:r>
              <a:t>Identity</a:t>
            </a:r>
            <a:br/>
            <a:r>
              <a:t>Resolution</a:t>
            </a:r>
          </a:p>
        </p:txBody>
      </p:sp>
      <p:sp>
        <p:nvSpPr>
          <p:cNvPr id="18" name="TextBox 17"/>
          <p:cNvSpPr txBox="1"/>
          <p:nvPr/>
        </p:nvSpPr>
        <p:spPr>
          <a:xfrm>
            <a:off x="3108960" y="2971800"/>
            <a:ext cx="1005840" cy="640080"/>
          </a:xfrm>
          <a:prstGeom prst="rect">
            <a:avLst/>
          </a:prstGeom>
          <a:noFill/>
        </p:spPr>
        <p:txBody>
          <a:bodyPr wrap="square"/>
          <a:lstStyle/>
          <a:p>
            <a:pPr algn="ctr">
              <a:spcBef>
                <a:spcPts val="0"/>
              </a:spcBef>
              <a:spcAft>
                <a:spcPts val="0"/>
              </a:spcAft>
              <a:defRPr sz="1100" b="0">
                <a:solidFill>
                  <a:srgbClr val="64748B"/>
                </a:solidFill>
                <a:latin typeface="Calibri"/>
              </a:defRPr>
            </a:pPr>
            <a:r>
              <a:t>Deterministic +</a:t>
            </a:r>
            <a:br/>
            <a:r>
              <a:t>probabilistic matching</a:t>
            </a:r>
          </a:p>
        </p:txBody>
      </p:sp>
      <p:sp>
        <p:nvSpPr>
          <p:cNvPr id="19" name="Right Arrow 18"/>
          <p:cNvSpPr/>
          <p:nvPr/>
        </p:nvSpPr>
        <p:spPr>
          <a:xfrm>
            <a:off x="4224528" y="2286000"/>
            <a:ext cx="73152" cy="22860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297680" y="1554480"/>
            <a:ext cx="118872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297680" y="1737360"/>
            <a:ext cx="1188720" cy="457200"/>
          </a:xfrm>
          <a:prstGeom prst="rect">
            <a:avLst/>
          </a:prstGeom>
          <a:noFill/>
        </p:spPr>
        <p:txBody>
          <a:bodyPr wrap="square"/>
          <a:lstStyle/>
          <a:p>
            <a:pPr algn="ctr">
              <a:spcBef>
                <a:spcPts val="0"/>
              </a:spcBef>
              <a:spcAft>
                <a:spcPts val="0"/>
              </a:spcAft>
              <a:defRPr sz="2800" b="0">
                <a:solidFill>
                  <a:srgbClr val="0F172A"/>
                </a:solidFill>
                <a:latin typeface="Calibri"/>
              </a:defRPr>
            </a:pPr>
            <a:r>
              <a:t>👤</a:t>
            </a:r>
          </a:p>
        </p:txBody>
      </p:sp>
      <p:sp>
        <p:nvSpPr>
          <p:cNvPr id="22" name="TextBox 21"/>
          <p:cNvSpPr txBox="1"/>
          <p:nvPr/>
        </p:nvSpPr>
        <p:spPr>
          <a:xfrm>
            <a:off x="4389120" y="2194560"/>
            <a:ext cx="1005840" cy="640080"/>
          </a:xfrm>
          <a:prstGeom prst="rect">
            <a:avLst/>
          </a:prstGeom>
          <a:noFill/>
        </p:spPr>
        <p:txBody>
          <a:bodyPr wrap="square"/>
          <a:lstStyle/>
          <a:p>
            <a:pPr algn="ctr">
              <a:spcBef>
                <a:spcPts val="0"/>
              </a:spcBef>
              <a:spcAft>
                <a:spcPts val="0"/>
              </a:spcAft>
              <a:defRPr sz="1400" b="1">
                <a:solidFill>
                  <a:srgbClr val="0F172A"/>
                </a:solidFill>
                <a:latin typeface="Calibri"/>
              </a:defRPr>
            </a:pPr>
            <a:r>
              <a:t>Unified</a:t>
            </a:r>
            <a:br/>
            <a:r>
              <a:t>Profile</a:t>
            </a:r>
          </a:p>
        </p:txBody>
      </p:sp>
      <p:sp>
        <p:nvSpPr>
          <p:cNvPr id="23" name="TextBox 22"/>
          <p:cNvSpPr txBox="1"/>
          <p:nvPr/>
        </p:nvSpPr>
        <p:spPr>
          <a:xfrm>
            <a:off x="4389120" y="2971800"/>
            <a:ext cx="1005840" cy="640080"/>
          </a:xfrm>
          <a:prstGeom prst="rect">
            <a:avLst/>
          </a:prstGeom>
          <a:noFill/>
        </p:spPr>
        <p:txBody>
          <a:bodyPr wrap="square"/>
          <a:lstStyle/>
          <a:p>
            <a:pPr algn="ctr">
              <a:spcBef>
                <a:spcPts val="0"/>
              </a:spcBef>
              <a:spcAft>
                <a:spcPts val="0"/>
              </a:spcAft>
              <a:defRPr sz="1100" b="0">
                <a:solidFill>
                  <a:srgbClr val="64748B"/>
                </a:solidFill>
                <a:latin typeface="Calibri"/>
              </a:defRPr>
            </a:pPr>
            <a:r>
              <a:t>Single customer</a:t>
            </a:r>
            <a:br/>
            <a:r>
              <a:t>view in MongoDB</a:t>
            </a:r>
          </a:p>
        </p:txBody>
      </p:sp>
      <p:sp>
        <p:nvSpPr>
          <p:cNvPr id="24" name="Right Arrow 23"/>
          <p:cNvSpPr/>
          <p:nvPr/>
        </p:nvSpPr>
        <p:spPr>
          <a:xfrm>
            <a:off x="5504688" y="2286000"/>
            <a:ext cx="73152" cy="22860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577840" y="1554480"/>
            <a:ext cx="118872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577840" y="1737360"/>
            <a:ext cx="1188720" cy="457200"/>
          </a:xfrm>
          <a:prstGeom prst="rect">
            <a:avLst/>
          </a:prstGeom>
          <a:noFill/>
        </p:spPr>
        <p:txBody>
          <a:bodyPr wrap="square"/>
          <a:lstStyle/>
          <a:p>
            <a:pPr algn="ctr">
              <a:spcBef>
                <a:spcPts val="0"/>
              </a:spcBef>
              <a:spcAft>
                <a:spcPts val="0"/>
              </a:spcAft>
              <a:defRPr sz="2800" b="0">
                <a:solidFill>
                  <a:srgbClr val="0F172A"/>
                </a:solidFill>
                <a:latin typeface="Calibri"/>
              </a:defRPr>
            </a:pPr>
            <a:r>
              <a:t>🧠</a:t>
            </a:r>
          </a:p>
        </p:txBody>
      </p:sp>
      <p:sp>
        <p:nvSpPr>
          <p:cNvPr id="27" name="TextBox 26"/>
          <p:cNvSpPr txBox="1"/>
          <p:nvPr/>
        </p:nvSpPr>
        <p:spPr>
          <a:xfrm>
            <a:off x="5669280" y="2194560"/>
            <a:ext cx="1005840" cy="640080"/>
          </a:xfrm>
          <a:prstGeom prst="rect">
            <a:avLst/>
          </a:prstGeom>
          <a:noFill/>
        </p:spPr>
        <p:txBody>
          <a:bodyPr wrap="square"/>
          <a:lstStyle/>
          <a:p>
            <a:pPr algn="ctr">
              <a:spcBef>
                <a:spcPts val="0"/>
              </a:spcBef>
              <a:spcAft>
                <a:spcPts val="0"/>
              </a:spcAft>
              <a:defRPr sz="1400" b="1">
                <a:solidFill>
                  <a:srgbClr val="0F172A"/>
                </a:solidFill>
                <a:latin typeface="Calibri"/>
              </a:defRPr>
            </a:pPr>
            <a:r>
              <a:t>Intent</a:t>
            </a:r>
            <a:br/>
            <a:r>
              <a:t>Profiling</a:t>
            </a:r>
          </a:p>
        </p:txBody>
      </p:sp>
      <p:sp>
        <p:nvSpPr>
          <p:cNvPr id="28" name="TextBox 27"/>
          <p:cNvSpPr txBox="1"/>
          <p:nvPr/>
        </p:nvSpPr>
        <p:spPr>
          <a:xfrm>
            <a:off x="5669280" y="2971800"/>
            <a:ext cx="1005840" cy="640080"/>
          </a:xfrm>
          <a:prstGeom prst="rect">
            <a:avLst/>
          </a:prstGeom>
          <a:noFill/>
        </p:spPr>
        <p:txBody>
          <a:bodyPr wrap="square"/>
          <a:lstStyle/>
          <a:p>
            <a:pPr algn="ctr">
              <a:spcBef>
                <a:spcPts val="0"/>
              </a:spcBef>
              <a:spcAft>
                <a:spcPts val="0"/>
              </a:spcAft>
              <a:defRPr sz="1100" b="0">
                <a:solidFill>
                  <a:srgbClr val="64748B"/>
                </a:solidFill>
                <a:latin typeface="Calibri"/>
              </a:defRPr>
            </a:pPr>
            <a:r>
              <a:t>Ollama LLM</a:t>
            </a:r>
            <a:br/>
            <a:r>
              <a:t>intent analysis</a:t>
            </a:r>
          </a:p>
        </p:txBody>
      </p:sp>
      <p:sp>
        <p:nvSpPr>
          <p:cNvPr id="29" name="Right Arrow 28"/>
          <p:cNvSpPr/>
          <p:nvPr/>
        </p:nvSpPr>
        <p:spPr>
          <a:xfrm>
            <a:off x="6784848" y="2286000"/>
            <a:ext cx="73152" cy="22860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858000" y="1554480"/>
            <a:ext cx="118872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0" y="1737360"/>
            <a:ext cx="1188720" cy="457200"/>
          </a:xfrm>
          <a:prstGeom prst="rect">
            <a:avLst/>
          </a:prstGeom>
          <a:noFill/>
        </p:spPr>
        <p:txBody>
          <a:bodyPr wrap="square"/>
          <a:lstStyle/>
          <a:p>
            <a:pPr algn="ctr">
              <a:spcBef>
                <a:spcPts val="0"/>
              </a:spcBef>
              <a:spcAft>
                <a:spcPts val="0"/>
              </a:spcAft>
              <a:defRPr sz="2800" b="0">
                <a:solidFill>
                  <a:srgbClr val="0F172A"/>
                </a:solidFill>
                <a:latin typeface="Calibri"/>
              </a:defRPr>
            </a:pPr>
            <a:r>
              <a:t>🎯</a:t>
            </a:r>
          </a:p>
        </p:txBody>
      </p:sp>
      <p:sp>
        <p:nvSpPr>
          <p:cNvPr id="32" name="TextBox 31"/>
          <p:cNvSpPr txBox="1"/>
          <p:nvPr/>
        </p:nvSpPr>
        <p:spPr>
          <a:xfrm>
            <a:off x="6949440" y="2194560"/>
            <a:ext cx="1005840" cy="640080"/>
          </a:xfrm>
          <a:prstGeom prst="rect">
            <a:avLst/>
          </a:prstGeom>
          <a:noFill/>
        </p:spPr>
        <p:txBody>
          <a:bodyPr wrap="square"/>
          <a:lstStyle/>
          <a:p>
            <a:pPr algn="ctr">
              <a:spcBef>
                <a:spcPts val="0"/>
              </a:spcBef>
              <a:spcAft>
                <a:spcPts val="0"/>
              </a:spcAft>
              <a:defRPr sz="1400" b="1">
                <a:solidFill>
                  <a:srgbClr val="0F172A"/>
                </a:solidFill>
                <a:latin typeface="Calibri"/>
              </a:defRPr>
            </a:pPr>
            <a:r>
              <a:t>Product</a:t>
            </a:r>
            <a:br/>
            <a:r>
              <a:t>Matching</a:t>
            </a:r>
          </a:p>
        </p:txBody>
      </p:sp>
      <p:sp>
        <p:nvSpPr>
          <p:cNvPr id="33" name="TextBox 32"/>
          <p:cNvSpPr txBox="1"/>
          <p:nvPr/>
        </p:nvSpPr>
        <p:spPr>
          <a:xfrm>
            <a:off x="6949440" y="2971800"/>
            <a:ext cx="1005840" cy="640080"/>
          </a:xfrm>
          <a:prstGeom prst="rect">
            <a:avLst/>
          </a:prstGeom>
          <a:noFill/>
        </p:spPr>
        <p:txBody>
          <a:bodyPr wrap="square"/>
          <a:lstStyle/>
          <a:p>
            <a:pPr algn="ctr">
              <a:spcBef>
                <a:spcPts val="0"/>
              </a:spcBef>
              <a:spcAft>
                <a:spcPts val="0"/>
              </a:spcAft>
              <a:defRPr sz="1100" b="0">
                <a:solidFill>
                  <a:srgbClr val="64748B"/>
                </a:solidFill>
                <a:latin typeface="Calibri"/>
              </a:defRPr>
            </a:pPr>
            <a:r>
              <a:t>Qdrant vector</a:t>
            </a:r>
            <a:br/>
            <a:r>
              <a:t>semantic search</a:t>
            </a:r>
          </a:p>
        </p:txBody>
      </p:sp>
      <p:sp>
        <p:nvSpPr>
          <p:cNvPr id="34" name="Right Arrow 33"/>
          <p:cNvSpPr/>
          <p:nvPr/>
        </p:nvSpPr>
        <p:spPr>
          <a:xfrm>
            <a:off x="8065008" y="2286000"/>
            <a:ext cx="73152" cy="22860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138160" y="1554480"/>
            <a:ext cx="118872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138160" y="1737360"/>
            <a:ext cx="1188720" cy="457200"/>
          </a:xfrm>
          <a:prstGeom prst="rect">
            <a:avLst/>
          </a:prstGeom>
          <a:noFill/>
        </p:spPr>
        <p:txBody>
          <a:bodyPr wrap="square"/>
          <a:lstStyle/>
          <a:p>
            <a:pPr algn="ctr">
              <a:spcBef>
                <a:spcPts val="0"/>
              </a:spcBef>
              <a:spcAft>
                <a:spcPts val="0"/>
              </a:spcAft>
              <a:defRPr sz="2800" b="0">
                <a:solidFill>
                  <a:srgbClr val="0F172A"/>
                </a:solidFill>
                <a:latin typeface="Calibri"/>
              </a:defRPr>
            </a:pPr>
            <a:r>
              <a:t>📣</a:t>
            </a:r>
          </a:p>
        </p:txBody>
      </p:sp>
      <p:sp>
        <p:nvSpPr>
          <p:cNvPr id="37" name="TextBox 36"/>
          <p:cNvSpPr txBox="1"/>
          <p:nvPr/>
        </p:nvSpPr>
        <p:spPr>
          <a:xfrm>
            <a:off x="8229600" y="2194560"/>
            <a:ext cx="1005840" cy="640080"/>
          </a:xfrm>
          <a:prstGeom prst="rect">
            <a:avLst/>
          </a:prstGeom>
          <a:noFill/>
        </p:spPr>
        <p:txBody>
          <a:bodyPr wrap="square"/>
          <a:lstStyle/>
          <a:p>
            <a:pPr algn="ctr">
              <a:spcBef>
                <a:spcPts val="0"/>
              </a:spcBef>
              <a:spcAft>
                <a:spcPts val="0"/>
              </a:spcAft>
              <a:defRPr sz="1400" b="1">
                <a:solidFill>
                  <a:srgbClr val="0F172A"/>
                </a:solidFill>
                <a:latin typeface="Calibri"/>
              </a:defRPr>
            </a:pPr>
            <a:r>
              <a:t>AI</a:t>
            </a:r>
            <a:br/>
            <a:r>
              <a:t>Advertisement</a:t>
            </a:r>
          </a:p>
        </p:txBody>
      </p:sp>
      <p:sp>
        <p:nvSpPr>
          <p:cNvPr id="38" name="TextBox 37"/>
          <p:cNvSpPr txBox="1"/>
          <p:nvPr/>
        </p:nvSpPr>
        <p:spPr>
          <a:xfrm>
            <a:off x="8229600" y="2971800"/>
            <a:ext cx="1005840" cy="640080"/>
          </a:xfrm>
          <a:prstGeom prst="rect">
            <a:avLst/>
          </a:prstGeom>
          <a:noFill/>
        </p:spPr>
        <p:txBody>
          <a:bodyPr wrap="square"/>
          <a:lstStyle/>
          <a:p>
            <a:pPr algn="ctr">
              <a:spcBef>
                <a:spcPts val="0"/>
              </a:spcBef>
              <a:spcAft>
                <a:spcPts val="0"/>
              </a:spcAft>
              <a:defRPr sz="1100" b="0">
                <a:solidFill>
                  <a:srgbClr val="64748B"/>
                </a:solidFill>
                <a:latin typeface="Calibri"/>
              </a:defRPr>
            </a:pPr>
            <a:r>
              <a:t>Personalized ad</a:t>
            </a:r>
            <a:br/>
            <a:r>
              <a:t>creative generation</a:t>
            </a:r>
          </a:p>
        </p:txBody>
      </p:sp>
      <p:sp>
        <p:nvSpPr>
          <p:cNvPr id="39" name="Right Arrow 38"/>
          <p:cNvSpPr/>
          <p:nvPr/>
        </p:nvSpPr>
        <p:spPr>
          <a:xfrm>
            <a:off x="9345168" y="2286000"/>
            <a:ext cx="73152" cy="22860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9418320" y="1554480"/>
            <a:ext cx="118872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418320" y="1737360"/>
            <a:ext cx="1188720" cy="457200"/>
          </a:xfrm>
          <a:prstGeom prst="rect">
            <a:avLst/>
          </a:prstGeom>
          <a:noFill/>
        </p:spPr>
        <p:txBody>
          <a:bodyPr wrap="square"/>
          <a:lstStyle/>
          <a:p>
            <a:pPr algn="ctr">
              <a:spcBef>
                <a:spcPts val="0"/>
              </a:spcBef>
              <a:spcAft>
                <a:spcPts val="0"/>
              </a:spcAft>
              <a:defRPr sz="2800" b="0">
                <a:solidFill>
                  <a:srgbClr val="0F172A"/>
                </a:solidFill>
                <a:latin typeface="Calibri"/>
              </a:defRPr>
            </a:pPr>
            <a:r>
              <a:t>📊</a:t>
            </a:r>
          </a:p>
        </p:txBody>
      </p:sp>
      <p:sp>
        <p:nvSpPr>
          <p:cNvPr id="42" name="TextBox 41"/>
          <p:cNvSpPr txBox="1"/>
          <p:nvPr/>
        </p:nvSpPr>
        <p:spPr>
          <a:xfrm>
            <a:off x="9509760" y="2194560"/>
            <a:ext cx="1005840" cy="640080"/>
          </a:xfrm>
          <a:prstGeom prst="rect">
            <a:avLst/>
          </a:prstGeom>
          <a:noFill/>
        </p:spPr>
        <p:txBody>
          <a:bodyPr wrap="square"/>
          <a:lstStyle/>
          <a:p>
            <a:pPr algn="ctr">
              <a:spcBef>
                <a:spcPts val="0"/>
              </a:spcBef>
              <a:spcAft>
                <a:spcPts val="0"/>
              </a:spcAft>
              <a:defRPr sz="1400" b="1">
                <a:solidFill>
                  <a:srgbClr val="0F172A"/>
                </a:solidFill>
                <a:latin typeface="Calibri"/>
              </a:defRPr>
            </a:pPr>
            <a:r>
              <a:t>Real-time</a:t>
            </a:r>
            <a:br/>
            <a:r>
              <a:t>Dashboard</a:t>
            </a:r>
          </a:p>
        </p:txBody>
      </p:sp>
      <p:sp>
        <p:nvSpPr>
          <p:cNvPr id="43" name="TextBox 42"/>
          <p:cNvSpPr txBox="1"/>
          <p:nvPr/>
        </p:nvSpPr>
        <p:spPr>
          <a:xfrm>
            <a:off x="9509760" y="2971800"/>
            <a:ext cx="1005840" cy="640080"/>
          </a:xfrm>
          <a:prstGeom prst="rect">
            <a:avLst/>
          </a:prstGeom>
          <a:noFill/>
        </p:spPr>
        <p:txBody>
          <a:bodyPr wrap="square"/>
          <a:lstStyle/>
          <a:p>
            <a:pPr algn="ctr">
              <a:spcBef>
                <a:spcPts val="0"/>
              </a:spcBef>
              <a:spcAft>
                <a:spcPts val="0"/>
              </a:spcAft>
              <a:defRPr sz="1100" b="0">
                <a:solidFill>
                  <a:srgbClr val="64748B"/>
                </a:solidFill>
                <a:latin typeface="Calibri"/>
              </a:defRPr>
            </a:pPr>
            <a:r>
              <a:t>React + Recharts</a:t>
            </a:r>
            <a:br/>
            <a:r>
              <a:t>visualization</a:t>
            </a:r>
          </a:p>
        </p:txBody>
      </p:sp>
      <p:sp>
        <p:nvSpPr>
          <p:cNvPr id="44" name="Rounded Rectangle 43"/>
          <p:cNvSpPr/>
          <p:nvPr/>
        </p:nvSpPr>
        <p:spPr>
          <a:xfrm>
            <a:off x="457200" y="4297680"/>
            <a:ext cx="11247120" cy="3657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0080" y="4572000"/>
            <a:ext cx="10058400" cy="457200"/>
          </a:xfrm>
          <a:prstGeom prst="rect">
            <a:avLst/>
          </a:prstGeom>
          <a:noFill/>
        </p:spPr>
        <p:txBody>
          <a:bodyPr wrap="square"/>
          <a:lstStyle/>
          <a:p>
            <a:pPr algn="l">
              <a:spcBef>
                <a:spcPts val="0"/>
              </a:spcBef>
              <a:spcAft>
                <a:spcPts val="0"/>
              </a:spcAft>
              <a:defRPr sz="2200" b="1">
                <a:solidFill>
                  <a:srgbClr val="0F172A"/>
                </a:solidFill>
                <a:latin typeface="Calibri"/>
              </a:defRPr>
            </a:pPr>
            <a:r>
              <a:t>Key Differentiators</a:t>
            </a:r>
          </a:p>
        </p:txBody>
      </p:sp>
      <p:sp>
        <p:nvSpPr>
          <p:cNvPr id="46" name="TextBox 45"/>
          <p:cNvSpPr txBox="1"/>
          <p:nvPr/>
        </p:nvSpPr>
        <p:spPr>
          <a:xfrm>
            <a:off x="640080" y="5029200"/>
            <a:ext cx="365760" cy="365760"/>
          </a:xfrm>
          <a:prstGeom prst="rect">
            <a:avLst/>
          </a:prstGeom>
          <a:noFill/>
        </p:spPr>
        <p:txBody>
          <a:bodyPr wrap="square"/>
          <a:lstStyle/>
          <a:p>
            <a:pPr algn="l">
              <a:spcBef>
                <a:spcPts val="0"/>
              </a:spcBef>
              <a:spcAft>
                <a:spcPts val="0"/>
              </a:spcAft>
              <a:defRPr sz="2200" b="0">
                <a:solidFill>
                  <a:srgbClr val="0F172A"/>
                </a:solidFill>
                <a:latin typeface="Calibri"/>
              </a:defRPr>
            </a:pPr>
            <a:r>
              <a:t>🔒</a:t>
            </a:r>
          </a:p>
        </p:txBody>
      </p:sp>
      <p:sp>
        <p:nvSpPr>
          <p:cNvPr id="47" name="TextBox 46"/>
          <p:cNvSpPr txBox="1"/>
          <p:nvPr/>
        </p:nvSpPr>
        <p:spPr>
          <a:xfrm>
            <a:off x="1097280" y="5029200"/>
            <a:ext cx="2011680" cy="365760"/>
          </a:xfrm>
          <a:prstGeom prst="rect">
            <a:avLst/>
          </a:prstGeom>
          <a:noFill/>
        </p:spPr>
        <p:txBody>
          <a:bodyPr wrap="square"/>
          <a:lstStyle/>
          <a:p>
            <a:pPr algn="l">
              <a:spcBef>
                <a:spcPts val="0"/>
              </a:spcBef>
              <a:spcAft>
                <a:spcPts val="0"/>
              </a:spcAft>
              <a:defRPr sz="1800" b="1">
                <a:solidFill>
                  <a:srgbClr val="0F172A"/>
                </a:solidFill>
                <a:latin typeface="Calibri"/>
              </a:defRPr>
            </a:pPr>
            <a:r>
              <a:t>Privacy-First</a:t>
            </a:r>
          </a:p>
        </p:txBody>
      </p:sp>
      <p:sp>
        <p:nvSpPr>
          <p:cNvPr id="48" name="TextBox 47"/>
          <p:cNvSpPr txBox="1"/>
          <p:nvPr/>
        </p:nvSpPr>
        <p:spPr>
          <a:xfrm>
            <a:off x="1097280" y="5394960"/>
            <a:ext cx="2011680" cy="548640"/>
          </a:xfrm>
          <a:prstGeom prst="rect">
            <a:avLst/>
          </a:prstGeom>
          <a:noFill/>
        </p:spPr>
        <p:txBody>
          <a:bodyPr wrap="square"/>
          <a:lstStyle/>
          <a:p>
            <a:pPr algn="l">
              <a:spcBef>
                <a:spcPts val="0"/>
              </a:spcBef>
              <a:spcAft>
                <a:spcPts val="0"/>
              </a:spcAft>
              <a:defRPr sz="1300" b="0">
                <a:solidFill>
                  <a:srgbClr val="64748B"/>
                </a:solidFill>
                <a:latin typeface="Calibri"/>
              </a:defRPr>
            </a:pPr>
            <a:r>
              <a:t>Local LLM, no data leaves</a:t>
            </a:r>
            <a:br/>
            <a:r>
              <a:t>your infrastructure</a:t>
            </a:r>
          </a:p>
        </p:txBody>
      </p:sp>
      <p:sp>
        <p:nvSpPr>
          <p:cNvPr id="49" name="TextBox 48"/>
          <p:cNvSpPr txBox="1"/>
          <p:nvPr/>
        </p:nvSpPr>
        <p:spPr>
          <a:xfrm>
            <a:off x="3429000" y="5029200"/>
            <a:ext cx="365760" cy="365760"/>
          </a:xfrm>
          <a:prstGeom prst="rect">
            <a:avLst/>
          </a:prstGeom>
          <a:noFill/>
        </p:spPr>
        <p:txBody>
          <a:bodyPr wrap="square"/>
          <a:lstStyle/>
          <a:p>
            <a:pPr algn="l">
              <a:spcBef>
                <a:spcPts val="0"/>
              </a:spcBef>
              <a:spcAft>
                <a:spcPts val="0"/>
              </a:spcAft>
              <a:defRPr sz="2200" b="0">
                <a:solidFill>
                  <a:srgbClr val="0F172A"/>
                </a:solidFill>
                <a:latin typeface="Calibri"/>
              </a:defRPr>
            </a:pPr>
            <a:r>
              <a:t>⚡</a:t>
            </a:r>
          </a:p>
        </p:txBody>
      </p:sp>
      <p:sp>
        <p:nvSpPr>
          <p:cNvPr id="50" name="TextBox 49"/>
          <p:cNvSpPr txBox="1"/>
          <p:nvPr/>
        </p:nvSpPr>
        <p:spPr>
          <a:xfrm>
            <a:off x="3886200" y="5029200"/>
            <a:ext cx="2011680" cy="365760"/>
          </a:xfrm>
          <a:prstGeom prst="rect">
            <a:avLst/>
          </a:prstGeom>
          <a:noFill/>
        </p:spPr>
        <p:txBody>
          <a:bodyPr wrap="square"/>
          <a:lstStyle/>
          <a:p>
            <a:pPr algn="l">
              <a:spcBef>
                <a:spcPts val="0"/>
              </a:spcBef>
              <a:spcAft>
                <a:spcPts val="0"/>
              </a:spcAft>
              <a:defRPr sz="1800" b="1">
                <a:solidFill>
                  <a:srgbClr val="0F172A"/>
                </a:solidFill>
                <a:latin typeface="Calibri"/>
              </a:defRPr>
            </a:pPr>
            <a:r>
              <a:t>Real-Time</a:t>
            </a:r>
          </a:p>
        </p:txBody>
      </p:sp>
      <p:sp>
        <p:nvSpPr>
          <p:cNvPr id="51" name="TextBox 50"/>
          <p:cNvSpPr txBox="1"/>
          <p:nvPr/>
        </p:nvSpPr>
        <p:spPr>
          <a:xfrm>
            <a:off x="3886200" y="5394960"/>
            <a:ext cx="2011680" cy="548640"/>
          </a:xfrm>
          <a:prstGeom prst="rect">
            <a:avLst/>
          </a:prstGeom>
          <a:noFill/>
        </p:spPr>
        <p:txBody>
          <a:bodyPr wrap="square"/>
          <a:lstStyle/>
          <a:p>
            <a:pPr algn="l">
              <a:spcBef>
                <a:spcPts val="0"/>
              </a:spcBef>
              <a:spcAft>
                <a:spcPts val="0"/>
              </a:spcAft>
              <a:defRPr sz="1300" b="0">
                <a:solidFill>
                  <a:srgbClr val="64748B"/>
                </a:solidFill>
                <a:latin typeface="Calibri"/>
              </a:defRPr>
            </a:pPr>
            <a:r>
              <a:t>Event-driven pipeline</a:t>
            </a:r>
            <a:br/>
            <a:r>
              <a:t>with sub-second latency</a:t>
            </a:r>
          </a:p>
        </p:txBody>
      </p:sp>
      <p:sp>
        <p:nvSpPr>
          <p:cNvPr id="52" name="TextBox 51"/>
          <p:cNvSpPr txBox="1"/>
          <p:nvPr/>
        </p:nvSpPr>
        <p:spPr>
          <a:xfrm>
            <a:off x="6217920" y="5029200"/>
            <a:ext cx="365760" cy="365760"/>
          </a:xfrm>
          <a:prstGeom prst="rect">
            <a:avLst/>
          </a:prstGeom>
          <a:noFill/>
        </p:spPr>
        <p:txBody>
          <a:bodyPr wrap="square"/>
          <a:lstStyle/>
          <a:p>
            <a:pPr algn="l">
              <a:spcBef>
                <a:spcPts val="0"/>
              </a:spcBef>
              <a:spcAft>
                <a:spcPts val="0"/>
              </a:spcAft>
              <a:defRPr sz="2200" b="0">
                <a:solidFill>
                  <a:srgbClr val="0F172A"/>
                </a:solidFill>
                <a:latin typeface="Calibri"/>
              </a:defRPr>
            </a:pPr>
            <a:r>
              <a:t>📈</a:t>
            </a:r>
          </a:p>
        </p:txBody>
      </p:sp>
      <p:sp>
        <p:nvSpPr>
          <p:cNvPr id="53" name="TextBox 52"/>
          <p:cNvSpPr txBox="1"/>
          <p:nvPr/>
        </p:nvSpPr>
        <p:spPr>
          <a:xfrm>
            <a:off x="6675120" y="5029200"/>
            <a:ext cx="2011680" cy="365760"/>
          </a:xfrm>
          <a:prstGeom prst="rect">
            <a:avLst/>
          </a:prstGeom>
          <a:noFill/>
        </p:spPr>
        <p:txBody>
          <a:bodyPr wrap="square"/>
          <a:lstStyle/>
          <a:p>
            <a:pPr algn="l">
              <a:spcBef>
                <a:spcPts val="0"/>
              </a:spcBef>
              <a:spcAft>
                <a:spcPts val="0"/>
              </a:spcAft>
              <a:defRPr sz="1800" b="1">
                <a:solidFill>
                  <a:srgbClr val="0F172A"/>
                </a:solidFill>
                <a:latin typeface="Calibri"/>
              </a:defRPr>
            </a:pPr>
            <a:r>
              <a:t>Scalable</a:t>
            </a:r>
          </a:p>
        </p:txBody>
      </p:sp>
      <p:sp>
        <p:nvSpPr>
          <p:cNvPr id="54" name="TextBox 53"/>
          <p:cNvSpPr txBox="1"/>
          <p:nvPr/>
        </p:nvSpPr>
        <p:spPr>
          <a:xfrm>
            <a:off x="6675120" y="5394960"/>
            <a:ext cx="2011680" cy="548640"/>
          </a:xfrm>
          <a:prstGeom prst="rect">
            <a:avLst/>
          </a:prstGeom>
          <a:noFill/>
        </p:spPr>
        <p:txBody>
          <a:bodyPr wrap="square"/>
          <a:lstStyle/>
          <a:p>
            <a:pPr algn="l">
              <a:spcBef>
                <a:spcPts val="0"/>
              </a:spcBef>
              <a:spcAft>
                <a:spcPts val="0"/>
              </a:spcAft>
              <a:defRPr sz="1300" b="0">
                <a:solidFill>
                  <a:srgbClr val="64748B"/>
                </a:solidFill>
                <a:latin typeface="Calibri"/>
              </a:defRPr>
            </a:pPr>
            <a:r>
              <a:t>Kafka-based architecture</a:t>
            </a:r>
            <a:br/>
            <a:r>
              <a:t>handles millions of events</a:t>
            </a:r>
          </a:p>
        </p:txBody>
      </p:sp>
      <p:sp>
        <p:nvSpPr>
          <p:cNvPr id="55" name="TextBox 54"/>
          <p:cNvSpPr txBox="1"/>
          <p:nvPr/>
        </p:nvSpPr>
        <p:spPr>
          <a:xfrm>
            <a:off x="9006839" y="5029200"/>
            <a:ext cx="365760" cy="365760"/>
          </a:xfrm>
          <a:prstGeom prst="rect">
            <a:avLst/>
          </a:prstGeom>
          <a:noFill/>
        </p:spPr>
        <p:txBody>
          <a:bodyPr wrap="square"/>
          <a:lstStyle/>
          <a:p>
            <a:pPr algn="l">
              <a:spcBef>
                <a:spcPts val="0"/>
              </a:spcBef>
              <a:spcAft>
                <a:spcPts val="0"/>
              </a:spcAft>
              <a:defRPr sz="2200" b="0">
                <a:solidFill>
                  <a:srgbClr val="0F172A"/>
                </a:solidFill>
                <a:latin typeface="Calibri"/>
              </a:defRPr>
            </a:pPr>
            <a:r>
              <a:t>🤖</a:t>
            </a:r>
          </a:p>
        </p:txBody>
      </p:sp>
      <p:sp>
        <p:nvSpPr>
          <p:cNvPr id="56" name="TextBox 55"/>
          <p:cNvSpPr txBox="1"/>
          <p:nvPr/>
        </p:nvSpPr>
        <p:spPr>
          <a:xfrm>
            <a:off x="9464039" y="5029200"/>
            <a:ext cx="2011680" cy="365760"/>
          </a:xfrm>
          <a:prstGeom prst="rect">
            <a:avLst/>
          </a:prstGeom>
          <a:noFill/>
        </p:spPr>
        <p:txBody>
          <a:bodyPr wrap="square"/>
          <a:lstStyle/>
          <a:p>
            <a:pPr algn="l">
              <a:spcBef>
                <a:spcPts val="0"/>
              </a:spcBef>
              <a:spcAft>
                <a:spcPts val="0"/>
              </a:spcAft>
              <a:defRPr sz="1800" b="1">
                <a:solidFill>
                  <a:srgbClr val="0F172A"/>
                </a:solidFill>
                <a:latin typeface="Calibri"/>
              </a:defRPr>
            </a:pPr>
            <a:r>
              <a:t>AI-Native</a:t>
            </a:r>
          </a:p>
        </p:txBody>
      </p:sp>
      <p:sp>
        <p:nvSpPr>
          <p:cNvPr id="57" name="TextBox 56"/>
          <p:cNvSpPr txBox="1"/>
          <p:nvPr/>
        </p:nvSpPr>
        <p:spPr>
          <a:xfrm>
            <a:off x="9464039" y="5394960"/>
            <a:ext cx="2011680" cy="548640"/>
          </a:xfrm>
          <a:prstGeom prst="rect">
            <a:avLst/>
          </a:prstGeom>
          <a:noFill/>
        </p:spPr>
        <p:txBody>
          <a:bodyPr wrap="square"/>
          <a:lstStyle/>
          <a:p>
            <a:pPr algn="l">
              <a:spcBef>
                <a:spcPts val="0"/>
              </a:spcBef>
              <a:spcAft>
                <a:spcPts val="0"/>
              </a:spcAft>
              <a:defRPr sz="1300" b="0">
                <a:solidFill>
                  <a:srgbClr val="64748B"/>
                </a:solidFill>
                <a:latin typeface="Calibri"/>
              </a:defRPr>
            </a:pPr>
            <a:r>
              <a:t>LLM + Vector Search</a:t>
            </a:r>
            <a:br/>
            <a:r>
              <a:t>for deep personalization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74320"/>
            <a:ext cx="10058400" cy="548640"/>
          </a:xfrm>
          <a:prstGeom prst="rect">
            <a:avLst/>
          </a:prstGeom>
          <a:noFill/>
        </p:spPr>
        <p:txBody>
          <a:bodyPr wrap="square"/>
          <a:lstStyle/>
          <a:p>
            <a:pPr algn="l">
              <a:spcBef>
                <a:spcPts val="0"/>
              </a:spcBef>
              <a:spcAft>
                <a:spcPts val="0"/>
              </a:spcAft>
              <a:defRPr sz="3600" b="1">
                <a:solidFill>
                  <a:srgbClr val="0F172A"/>
                </a:solidFill>
                <a:latin typeface="Calibri"/>
              </a:defRPr>
            </a:pPr>
            <a:r>
              <a:t>Technical Architecture</a:t>
            </a:r>
          </a:p>
        </p:txBody>
      </p:sp>
      <p:sp>
        <p:nvSpPr>
          <p:cNvPr id="4" name="Rounded Rectangle 3"/>
          <p:cNvSpPr/>
          <p:nvPr/>
        </p:nvSpPr>
        <p:spPr>
          <a:xfrm>
            <a:off x="457200" y="1005840"/>
            <a:ext cx="7772400" cy="731520"/>
          </a:xfrm>
          <a:prstGeom prst="roundRect">
            <a:avLst/>
          </a:prstGeom>
          <a:solidFill>
            <a:srgbClr val="F1F5F9"/>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05840"/>
            <a:ext cx="1645920" cy="731520"/>
          </a:xfrm>
          <a:prstGeom prst="rect">
            <a:avLst/>
          </a:prstGeom>
          <a:noFill/>
        </p:spPr>
        <p:txBody>
          <a:bodyPr wrap="square"/>
          <a:lstStyle/>
          <a:p>
            <a:pPr algn="l">
              <a:spcBef>
                <a:spcPts val="0"/>
              </a:spcBef>
              <a:spcAft>
                <a:spcPts val="0"/>
              </a:spcAft>
              <a:defRPr sz="1300" b="1">
                <a:solidFill>
                  <a:srgbClr val="2563EB"/>
                </a:solidFill>
                <a:latin typeface="Calibri"/>
              </a:defRPr>
            </a:pPr>
            <a:r>
              <a:t>Presentation Layer</a:t>
            </a:r>
          </a:p>
        </p:txBody>
      </p:sp>
      <p:sp>
        <p:nvSpPr>
          <p:cNvPr id="6" name="TextBox 5"/>
          <p:cNvSpPr txBox="1"/>
          <p:nvPr/>
        </p:nvSpPr>
        <p:spPr>
          <a:xfrm>
            <a:off x="2468880" y="1078992"/>
            <a:ext cx="1783080" cy="320040"/>
          </a:xfrm>
          <a:prstGeom prst="rect">
            <a:avLst/>
          </a:prstGeom>
          <a:noFill/>
        </p:spPr>
        <p:txBody>
          <a:bodyPr wrap="square"/>
          <a:lstStyle/>
          <a:p>
            <a:pPr algn="l">
              <a:spcBef>
                <a:spcPts val="0"/>
              </a:spcBef>
              <a:spcAft>
                <a:spcPts val="0"/>
              </a:spcAft>
              <a:defRPr sz="1100" b="1">
                <a:solidFill>
                  <a:srgbClr val="0F172A"/>
                </a:solidFill>
                <a:latin typeface="Calibri"/>
              </a:defRPr>
            </a:pPr>
            <a:r>
              <a:t>React SPA</a:t>
            </a:r>
          </a:p>
        </p:txBody>
      </p:sp>
      <p:sp>
        <p:nvSpPr>
          <p:cNvPr id="7" name="TextBox 6"/>
          <p:cNvSpPr txBox="1"/>
          <p:nvPr/>
        </p:nvSpPr>
        <p:spPr>
          <a:xfrm>
            <a:off x="2468880" y="1353312"/>
            <a:ext cx="1783080" cy="365760"/>
          </a:xfrm>
          <a:prstGeom prst="rect">
            <a:avLst/>
          </a:prstGeom>
          <a:noFill/>
        </p:spPr>
        <p:txBody>
          <a:bodyPr wrap="square"/>
          <a:lstStyle/>
          <a:p>
            <a:pPr algn="l">
              <a:spcBef>
                <a:spcPts val="0"/>
              </a:spcBef>
              <a:spcAft>
                <a:spcPts val="0"/>
              </a:spcAft>
              <a:defRPr sz="900" b="0">
                <a:solidFill>
                  <a:srgbClr val="64748B"/>
                </a:solidFill>
                <a:latin typeface="Calibri"/>
              </a:defRPr>
            </a:pPr>
            <a:r>
              <a:t>Vite + TypeScript</a:t>
            </a:r>
            <a:br/>
            <a:r>
              <a:t>Recharts + Tailwind</a:t>
            </a:r>
          </a:p>
        </p:txBody>
      </p:sp>
      <p:sp>
        <p:nvSpPr>
          <p:cNvPr id="8" name="TextBox 7"/>
          <p:cNvSpPr txBox="1"/>
          <p:nvPr/>
        </p:nvSpPr>
        <p:spPr>
          <a:xfrm>
            <a:off x="4389120" y="1078992"/>
            <a:ext cx="1783080" cy="320040"/>
          </a:xfrm>
          <a:prstGeom prst="rect">
            <a:avLst/>
          </a:prstGeom>
          <a:noFill/>
        </p:spPr>
        <p:txBody>
          <a:bodyPr wrap="square"/>
          <a:lstStyle/>
          <a:p>
            <a:pPr algn="l">
              <a:spcBef>
                <a:spcPts val="0"/>
              </a:spcBef>
              <a:spcAft>
                <a:spcPts val="0"/>
              </a:spcAft>
              <a:defRPr sz="1100" b="1">
                <a:solidFill>
                  <a:srgbClr val="0F172A"/>
                </a:solidFill>
                <a:latin typeface="Calibri"/>
              </a:defRPr>
            </a:pPr>
            <a:r>
              <a:t>Real-time Dashboard</a:t>
            </a:r>
          </a:p>
        </p:txBody>
      </p:sp>
      <p:sp>
        <p:nvSpPr>
          <p:cNvPr id="9" name="TextBox 8"/>
          <p:cNvSpPr txBox="1"/>
          <p:nvPr/>
        </p:nvSpPr>
        <p:spPr>
          <a:xfrm>
            <a:off x="4389120" y="1353312"/>
            <a:ext cx="1783080" cy="365760"/>
          </a:xfrm>
          <a:prstGeom prst="rect">
            <a:avLst/>
          </a:prstGeom>
          <a:noFill/>
        </p:spPr>
        <p:txBody>
          <a:bodyPr wrap="square"/>
          <a:lstStyle/>
          <a:p>
            <a:pPr algn="l">
              <a:spcBef>
                <a:spcPts val="0"/>
              </a:spcBef>
              <a:spcAft>
                <a:spcPts val="0"/>
              </a:spcAft>
              <a:defRPr sz="900" b="0">
                <a:solidFill>
                  <a:srgbClr val="64748B"/>
                </a:solidFill>
                <a:latin typeface="Calibri"/>
              </a:defRPr>
            </a:pPr>
            <a:r>
              <a:t>Live Feed, Analytics</a:t>
            </a:r>
            <a:br/>
            <a:r>
              <a:t>Identity Explorer</a:t>
            </a:r>
          </a:p>
        </p:txBody>
      </p:sp>
      <p:sp>
        <p:nvSpPr>
          <p:cNvPr id="10" name="TextBox 9"/>
          <p:cNvSpPr txBox="1"/>
          <p:nvPr/>
        </p:nvSpPr>
        <p:spPr>
          <a:xfrm>
            <a:off x="6309360" y="1078992"/>
            <a:ext cx="1783080" cy="320040"/>
          </a:xfrm>
          <a:prstGeom prst="rect">
            <a:avLst/>
          </a:prstGeom>
          <a:noFill/>
        </p:spPr>
        <p:txBody>
          <a:bodyPr wrap="square"/>
          <a:lstStyle/>
          <a:p>
            <a:pPr algn="l">
              <a:spcBef>
                <a:spcPts val="0"/>
              </a:spcBef>
              <a:spcAft>
                <a:spcPts val="0"/>
              </a:spcAft>
              <a:defRPr sz="1100" b="1">
                <a:solidFill>
                  <a:srgbClr val="0F172A"/>
                </a:solidFill>
                <a:latin typeface="Calibri"/>
              </a:defRPr>
            </a:pPr>
            <a:r>
              <a:t>API Client</a:t>
            </a:r>
          </a:p>
        </p:txBody>
      </p:sp>
      <p:sp>
        <p:nvSpPr>
          <p:cNvPr id="11" name="TextBox 10"/>
          <p:cNvSpPr txBox="1"/>
          <p:nvPr/>
        </p:nvSpPr>
        <p:spPr>
          <a:xfrm>
            <a:off x="6309360" y="1353312"/>
            <a:ext cx="1783080" cy="365760"/>
          </a:xfrm>
          <a:prstGeom prst="rect">
            <a:avLst/>
          </a:prstGeom>
          <a:noFill/>
        </p:spPr>
        <p:txBody>
          <a:bodyPr wrap="square"/>
          <a:lstStyle/>
          <a:p>
            <a:pPr algn="l">
              <a:spcBef>
                <a:spcPts val="0"/>
              </a:spcBef>
              <a:spcAft>
                <a:spcPts val="0"/>
              </a:spcAft>
              <a:defRPr sz="900" b="0">
                <a:solidFill>
                  <a:srgbClr val="64748B"/>
                </a:solidFill>
                <a:latin typeface="Calibri"/>
              </a:defRPr>
            </a:pPr>
            <a:r>
              <a:t>Axios + React Query</a:t>
            </a:r>
            <a:br/>
            <a:r>
              <a:t>Event polling</a:t>
            </a:r>
          </a:p>
        </p:txBody>
      </p:sp>
      <p:sp>
        <p:nvSpPr>
          <p:cNvPr id="12" name="Rounded Rectangle 11"/>
          <p:cNvSpPr/>
          <p:nvPr/>
        </p:nvSpPr>
        <p:spPr>
          <a:xfrm>
            <a:off x="457200" y="1783080"/>
            <a:ext cx="7772400" cy="731520"/>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1783080"/>
            <a:ext cx="1645920" cy="731520"/>
          </a:xfrm>
          <a:prstGeom prst="rect">
            <a:avLst/>
          </a:prstGeom>
          <a:noFill/>
        </p:spPr>
        <p:txBody>
          <a:bodyPr wrap="square"/>
          <a:lstStyle/>
          <a:p>
            <a:pPr algn="l">
              <a:spcBef>
                <a:spcPts val="0"/>
              </a:spcBef>
              <a:spcAft>
                <a:spcPts val="0"/>
              </a:spcAft>
              <a:defRPr sz="1300" b="1">
                <a:solidFill>
                  <a:srgbClr val="4F46E5"/>
                </a:solidFill>
                <a:latin typeface="Calibri"/>
              </a:defRPr>
            </a:pPr>
            <a:r>
              <a:t>API Layer</a:t>
            </a:r>
          </a:p>
        </p:txBody>
      </p:sp>
      <p:sp>
        <p:nvSpPr>
          <p:cNvPr id="14" name="TextBox 13"/>
          <p:cNvSpPr txBox="1"/>
          <p:nvPr/>
        </p:nvSpPr>
        <p:spPr>
          <a:xfrm>
            <a:off x="2468880" y="1856232"/>
            <a:ext cx="1783080" cy="320040"/>
          </a:xfrm>
          <a:prstGeom prst="rect">
            <a:avLst/>
          </a:prstGeom>
          <a:noFill/>
        </p:spPr>
        <p:txBody>
          <a:bodyPr wrap="square"/>
          <a:lstStyle/>
          <a:p>
            <a:pPr algn="l">
              <a:spcBef>
                <a:spcPts val="0"/>
              </a:spcBef>
              <a:spcAft>
                <a:spcPts val="0"/>
              </a:spcAft>
              <a:defRPr sz="1100" b="1">
                <a:solidFill>
                  <a:srgbClr val="0F172A"/>
                </a:solidFill>
                <a:latin typeface="Calibri"/>
              </a:defRPr>
            </a:pPr>
            <a:r>
              <a:t>FastAPI Server</a:t>
            </a:r>
          </a:p>
        </p:txBody>
      </p:sp>
      <p:sp>
        <p:nvSpPr>
          <p:cNvPr id="15" name="TextBox 14"/>
          <p:cNvSpPr txBox="1"/>
          <p:nvPr/>
        </p:nvSpPr>
        <p:spPr>
          <a:xfrm>
            <a:off x="2468880" y="2130552"/>
            <a:ext cx="1783080" cy="365760"/>
          </a:xfrm>
          <a:prstGeom prst="rect">
            <a:avLst/>
          </a:prstGeom>
          <a:noFill/>
        </p:spPr>
        <p:txBody>
          <a:bodyPr wrap="square"/>
          <a:lstStyle/>
          <a:p>
            <a:pPr algn="l">
              <a:spcBef>
                <a:spcPts val="0"/>
              </a:spcBef>
              <a:spcAft>
                <a:spcPts val="0"/>
              </a:spcAft>
              <a:defRPr sz="900" b="0">
                <a:solidFill>
                  <a:srgbClr val="64748B"/>
                </a:solidFill>
                <a:latin typeface="Calibri"/>
              </a:defRPr>
            </a:pPr>
            <a:r>
              <a:t>REST endpoints</a:t>
            </a:r>
            <a:br/>
            <a:r>
              <a:t>Health, Events, Profiles</a:t>
            </a:r>
          </a:p>
        </p:txBody>
      </p:sp>
      <p:sp>
        <p:nvSpPr>
          <p:cNvPr id="16" name="TextBox 15"/>
          <p:cNvSpPr txBox="1"/>
          <p:nvPr/>
        </p:nvSpPr>
        <p:spPr>
          <a:xfrm>
            <a:off x="4389120" y="1856232"/>
            <a:ext cx="1783080" cy="320040"/>
          </a:xfrm>
          <a:prstGeom prst="rect">
            <a:avLst/>
          </a:prstGeom>
          <a:noFill/>
        </p:spPr>
        <p:txBody>
          <a:bodyPr wrap="square"/>
          <a:lstStyle/>
          <a:p>
            <a:pPr algn="l">
              <a:spcBef>
                <a:spcPts val="0"/>
              </a:spcBef>
              <a:spcAft>
                <a:spcPts val="0"/>
              </a:spcAft>
              <a:defRPr sz="1100" b="1">
                <a:solidFill>
                  <a:srgbClr val="0F172A"/>
                </a:solidFill>
                <a:latin typeface="Calibri"/>
              </a:defRPr>
            </a:pPr>
            <a:r>
              <a:t>Data Validation</a:t>
            </a:r>
          </a:p>
        </p:txBody>
      </p:sp>
      <p:sp>
        <p:nvSpPr>
          <p:cNvPr id="17" name="TextBox 16"/>
          <p:cNvSpPr txBox="1"/>
          <p:nvPr/>
        </p:nvSpPr>
        <p:spPr>
          <a:xfrm>
            <a:off x="4389120" y="2130552"/>
            <a:ext cx="1783080" cy="365760"/>
          </a:xfrm>
          <a:prstGeom prst="rect">
            <a:avLst/>
          </a:prstGeom>
          <a:noFill/>
        </p:spPr>
        <p:txBody>
          <a:bodyPr wrap="square"/>
          <a:lstStyle/>
          <a:p>
            <a:pPr algn="l">
              <a:spcBef>
                <a:spcPts val="0"/>
              </a:spcBef>
              <a:spcAft>
                <a:spcPts val="0"/>
              </a:spcAft>
              <a:defRPr sz="900" b="0">
                <a:solidFill>
                  <a:srgbClr val="64748B"/>
                </a:solidFill>
                <a:latin typeface="Calibri"/>
              </a:defRPr>
            </a:pPr>
            <a:r>
              <a:t>Pydantic models</a:t>
            </a:r>
            <a:br/>
            <a:r>
              <a:t>Request/Response schemas</a:t>
            </a:r>
          </a:p>
        </p:txBody>
      </p:sp>
      <p:sp>
        <p:nvSpPr>
          <p:cNvPr id="18" name="TextBox 17"/>
          <p:cNvSpPr txBox="1"/>
          <p:nvPr/>
        </p:nvSpPr>
        <p:spPr>
          <a:xfrm>
            <a:off x="6309360" y="1856232"/>
            <a:ext cx="1783080" cy="320040"/>
          </a:xfrm>
          <a:prstGeom prst="rect">
            <a:avLst/>
          </a:prstGeom>
          <a:noFill/>
        </p:spPr>
        <p:txBody>
          <a:bodyPr wrap="square"/>
          <a:lstStyle/>
          <a:p>
            <a:pPr algn="l">
              <a:spcBef>
                <a:spcPts val="0"/>
              </a:spcBef>
              <a:spcAft>
                <a:spcPts val="0"/>
              </a:spcAft>
              <a:defRPr sz="1100" b="1">
                <a:solidFill>
                  <a:srgbClr val="0F172A"/>
                </a:solidFill>
                <a:latin typeface="Calibri"/>
              </a:defRPr>
            </a:pPr>
            <a:r>
              <a:t>API Proxy</a:t>
            </a:r>
          </a:p>
        </p:txBody>
      </p:sp>
      <p:sp>
        <p:nvSpPr>
          <p:cNvPr id="19" name="TextBox 18"/>
          <p:cNvSpPr txBox="1"/>
          <p:nvPr/>
        </p:nvSpPr>
        <p:spPr>
          <a:xfrm>
            <a:off x="6309360" y="2130552"/>
            <a:ext cx="1783080" cy="365760"/>
          </a:xfrm>
          <a:prstGeom prst="rect">
            <a:avLst/>
          </a:prstGeom>
          <a:noFill/>
        </p:spPr>
        <p:txBody>
          <a:bodyPr wrap="square"/>
          <a:lstStyle/>
          <a:p>
            <a:pPr algn="l">
              <a:spcBef>
                <a:spcPts val="0"/>
              </a:spcBef>
              <a:spcAft>
                <a:spcPts val="0"/>
              </a:spcAft>
              <a:defRPr sz="900" b="0">
                <a:solidFill>
                  <a:srgbClr val="64748B"/>
                </a:solidFill>
                <a:latin typeface="Calibri"/>
              </a:defRPr>
            </a:pPr>
            <a:r>
              <a:t>Vite dev proxy</a:t>
            </a:r>
            <a:br/>
            <a:r>
              <a:t>Docker networking</a:t>
            </a:r>
          </a:p>
        </p:txBody>
      </p:sp>
      <p:sp>
        <p:nvSpPr>
          <p:cNvPr id="20" name="Rounded Rectangle 19"/>
          <p:cNvSpPr/>
          <p:nvPr/>
        </p:nvSpPr>
        <p:spPr>
          <a:xfrm>
            <a:off x="457200" y="2560320"/>
            <a:ext cx="7772400" cy="73152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2560320"/>
            <a:ext cx="1645920" cy="731520"/>
          </a:xfrm>
          <a:prstGeom prst="rect">
            <a:avLst/>
          </a:prstGeom>
          <a:noFill/>
        </p:spPr>
        <p:txBody>
          <a:bodyPr wrap="square"/>
          <a:lstStyle/>
          <a:p>
            <a:pPr algn="l">
              <a:spcBef>
                <a:spcPts val="0"/>
              </a:spcBef>
              <a:spcAft>
                <a:spcPts val="0"/>
              </a:spcAft>
              <a:defRPr sz="1300" b="1">
                <a:solidFill>
                  <a:srgbClr val="059669"/>
                </a:solidFill>
                <a:latin typeface="Calibri"/>
              </a:defRPr>
            </a:pPr>
            <a:r>
              <a:t>AI Layer</a:t>
            </a:r>
          </a:p>
        </p:txBody>
      </p:sp>
      <p:sp>
        <p:nvSpPr>
          <p:cNvPr id="22" name="TextBox 21"/>
          <p:cNvSpPr txBox="1"/>
          <p:nvPr/>
        </p:nvSpPr>
        <p:spPr>
          <a:xfrm>
            <a:off x="2468880" y="2633472"/>
            <a:ext cx="1783080" cy="320040"/>
          </a:xfrm>
          <a:prstGeom prst="rect">
            <a:avLst/>
          </a:prstGeom>
          <a:noFill/>
        </p:spPr>
        <p:txBody>
          <a:bodyPr wrap="square"/>
          <a:lstStyle/>
          <a:p>
            <a:pPr algn="l">
              <a:spcBef>
                <a:spcPts val="0"/>
              </a:spcBef>
              <a:spcAft>
                <a:spcPts val="0"/>
              </a:spcAft>
              <a:defRPr sz="1100" b="1">
                <a:solidFill>
                  <a:srgbClr val="0F172A"/>
                </a:solidFill>
                <a:latin typeface="Calibri"/>
              </a:defRPr>
            </a:pPr>
            <a:r>
              <a:t>Ollama LLM</a:t>
            </a:r>
          </a:p>
        </p:txBody>
      </p:sp>
      <p:sp>
        <p:nvSpPr>
          <p:cNvPr id="23" name="TextBox 22"/>
          <p:cNvSpPr txBox="1"/>
          <p:nvPr/>
        </p:nvSpPr>
        <p:spPr>
          <a:xfrm>
            <a:off x="2468880" y="2907792"/>
            <a:ext cx="1783080" cy="365760"/>
          </a:xfrm>
          <a:prstGeom prst="rect">
            <a:avLst/>
          </a:prstGeom>
          <a:noFill/>
        </p:spPr>
        <p:txBody>
          <a:bodyPr wrap="square"/>
          <a:lstStyle/>
          <a:p>
            <a:pPr algn="l">
              <a:spcBef>
                <a:spcPts val="0"/>
              </a:spcBef>
              <a:spcAft>
                <a:spcPts val="0"/>
              </a:spcAft>
              <a:defRPr sz="900" b="0">
                <a:solidFill>
                  <a:srgbClr val="64748B"/>
                </a:solidFill>
                <a:latin typeface="Calibri"/>
              </a:defRPr>
            </a:pPr>
            <a:r>
              <a:t>Local LLM inference</a:t>
            </a:r>
            <a:br/>
            <a:r>
              <a:t>Intent profiling</a:t>
            </a:r>
          </a:p>
        </p:txBody>
      </p:sp>
      <p:sp>
        <p:nvSpPr>
          <p:cNvPr id="24" name="TextBox 23"/>
          <p:cNvSpPr txBox="1"/>
          <p:nvPr/>
        </p:nvSpPr>
        <p:spPr>
          <a:xfrm>
            <a:off x="4389120" y="2633472"/>
            <a:ext cx="1783080" cy="320040"/>
          </a:xfrm>
          <a:prstGeom prst="rect">
            <a:avLst/>
          </a:prstGeom>
          <a:noFill/>
        </p:spPr>
        <p:txBody>
          <a:bodyPr wrap="square"/>
          <a:lstStyle/>
          <a:p>
            <a:pPr algn="l">
              <a:spcBef>
                <a:spcPts val="0"/>
              </a:spcBef>
              <a:spcAft>
                <a:spcPts val="0"/>
              </a:spcAft>
              <a:defRPr sz="1100" b="1">
                <a:solidFill>
                  <a:srgbClr val="0F172A"/>
                </a:solidFill>
                <a:latin typeface="Calibri"/>
              </a:defRPr>
            </a:pPr>
            <a:r>
              <a:t>Qdrant Vector DB</a:t>
            </a:r>
          </a:p>
        </p:txBody>
      </p:sp>
      <p:sp>
        <p:nvSpPr>
          <p:cNvPr id="25" name="TextBox 24"/>
          <p:cNvSpPr txBox="1"/>
          <p:nvPr/>
        </p:nvSpPr>
        <p:spPr>
          <a:xfrm>
            <a:off x="4389120" y="2907792"/>
            <a:ext cx="1783080" cy="365760"/>
          </a:xfrm>
          <a:prstGeom prst="rect">
            <a:avLst/>
          </a:prstGeom>
          <a:noFill/>
        </p:spPr>
        <p:txBody>
          <a:bodyPr wrap="square"/>
          <a:lstStyle/>
          <a:p>
            <a:pPr algn="l">
              <a:spcBef>
                <a:spcPts val="0"/>
              </a:spcBef>
              <a:spcAft>
                <a:spcPts val="0"/>
              </a:spcAft>
              <a:defRPr sz="900" b="0">
                <a:solidFill>
                  <a:srgbClr val="64748B"/>
                </a:solidFill>
                <a:latin typeface="Calibri"/>
              </a:defRPr>
            </a:pPr>
            <a:r>
              <a:t>Semantic search</a:t>
            </a:r>
            <a:br/>
            <a:r>
              <a:t>Product matching</a:t>
            </a:r>
          </a:p>
        </p:txBody>
      </p:sp>
      <p:sp>
        <p:nvSpPr>
          <p:cNvPr id="26" name="TextBox 25"/>
          <p:cNvSpPr txBox="1"/>
          <p:nvPr/>
        </p:nvSpPr>
        <p:spPr>
          <a:xfrm>
            <a:off x="6309360" y="2633472"/>
            <a:ext cx="1783080" cy="320040"/>
          </a:xfrm>
          <a:prstGeom prst="rect">
            <a:avLst/>
          </a:prstGeom>
          <a:noFill/>
        </p:spPr>
        <p:txBody>
          <a:bodyPr wrap="square"/>
          <a:lstStyle/>
          <a:p>
            <a:pPr algn="l">
              <a:spcBef>
                <a:spcPts val="0"/>
              </a:spcBef>
              <a:spcAft>
                <a:spcPts val="0"/>
              </a:spcAft>
              <a:defRPr sz="1100" b="1">
                <a:solidFill>
                  <a:srgbClr val="0F172A"/>
                </a:solidFill>
                <a:latin typeface="Calibri"/>
              </a:defRPr>
            </a:pPr>
            <a:r>
              <a:t>Ad Generator</a:t>
            </a:r>
          </a:p>
        </p:txBody>
      </p:sp>
      <p:sp>
        <p:nvSpPr>
          <p:cNvPr id="27" name="TextBox 26"/>
          <p:cNvSpPr txBox="1"/>
          <p:nvPr/>
        </p:nvSpPr>
        <p:spPr>
          <a:xfrm>
            <a:off x="6309360" y="2907792"/>
            <a:ext cx="1783080" cy="365760"/>
          </a:xfrm>
          <a:prstGeom prst="rect">
            <a:avLst/>
          </a:prstGeom>
          <a:noFill/>
        </p:spPr>
        <p:txBody>
          <a:bodyPr wrap="square"/>
          <a:lstStyle/>
          <a:p>
            <a:pPr algn="l">
              <a:spcBef>
                <a:spcPts val="0"/>
              </a:spcBef>
              <a:spcAft>
                <a:spcPts val="0"/>
              </a:spcAft>
              <a:defRPr sz="900" b="0">
                <a:solidFill>
                  <a:srgbClr val="64748B"/>
                </a:solidFill>
                <a:latin typeface="Calibri"/>
              </a:defRPr>
            </a:pPr>
            <a:r>
              <a:t>Agentic AI pipeline</a:t>
            </a:r>
            <a:br/>
            <a:r>
              <a:t>Creative generation</a:t>
            </a:r>
          </a:p>
        </p:txBody>
      </p:sp>
      <p:sp>
        <p:nvSpPr>
          <p:cNvPr id="28" name="Rounded Rectangle 27"/>
          <p:cNvSpPr/>
          <p:nvPr/>
        </p:nvSpPr>
        <p:spPr>
          <a:xfrm>
            <a:off x="457200" y="3337560"/>
            <a:ext cx="7772400" cy="73152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 y="3337560"/>
            <a:ext cx="1645920" cy="731520"/>
          </a:xfrm>
          <a:prstGeom prst="rect">
            <a:avLst/>
          </a:prstGeom>
          <a:noFill/>
        </p:spPr>
        <p:txBody>
          <a:bodyPr wrap="square"/>
          <a:lstStyle/>
          <a:p>
            <a:pPr algn="l">
              <a:spcBef>
                <a:spcPts val="0"/>
              </a:spcBef>
              <a:spcAft>
                <a:spcPts val="0"/>
              </a:spcAft>
              <a:defRPr sz="1300" b="1">
                <a:solidFill>
                  <a:srgbClr val="D97706"/>
                </a:solidFill>
                <a:latin typeface="Calibri"/>
              </a:defRPr>
            </a:pPr>
            <a:r>
              <a:t>Storage Layer</a:t>
            </a:r>
          </a:p>
        </p:txBody>
      </p:sp>
      <p:sp>
        <p:nvSpPr>
          <p:cNvPr id="30" name="TextBox 29"/>
          <p:cNvSpPr txBox="1"/>
          <p:nvPr/>
        </p:nvSpPr>
        <p:spPr>
          <a:xfrm>
            <a:off x="2468880" y="3410712"/>
            <a:ext cx="1783080" cy="320040"/>
          </a:xfrm>
          <a:prstGeom prst="rect">
            <a:avLst/>
          </a:prstGeom>
          <a:noFill/>
        </p:spPr>
        <p:txBody>
          <a:bodyPr wrap="square"/>
          <a:lstStyle/>
          <a:p>
            <a:pPr algn="l">
              <a:spcBef>
                <a:spcPts val="0"/>
              </a:spcBef>
              <a:spcAft>
                <a:spcPts val="0"/>
              </a:spcAft>
              <a:defRPr sz="1100" b="1">
                <a:solidFill>
                  <a:srgbClr val="0F172A"/>
                </a:solidFill>
                <a:latin typeface="Calibri"/>
              </a:defRPr>
            </a:pPr>
            <a:r>
              <a:t>MongoDB</a:t>
            </a:r>
          </a:p>
        </p:txBody>
      </p:sp>
      <p:sp>
        <p:nvSpPr>
          <p:cNvPr id="31" name="TextBox 30"/>
          <p:cNvSpPr txBox="1"/>
          <p:nvPr/>
        </p:nvSpPr>
        <p:spPr>
          <a:xfrm>
            <a:off x="2468880" y="3685032"/>
            <a:ext cx="1783080" cy="365760"/>
          </a:xfrm>
          <a:prstGeom prst="rect">
            <a:avLst/>
          </a:prstGeom>
          <a:noFill/>
        </p:spPr>
        <p:txBody>
          <a:bodyPr wrap="square"/>
          <a:lstStyle/>
          <a:p>
            <a:pPr algn="l">
              <a:spcBef>
                <a:spcPts val="0"/>
              </a:spcBef>
              <a:spcAft>
                <a:spcPts val="0"/>
              </a:spcAft>
              <a:defRPr sz="900" b="0">
                <a:solidFill>
                  <a:srgbClr val="64748B"/>
                </a:solidFill>
                <a:latin typeface="Calibri"/>
              </a:defRPr>
            </a:pPr>
            <a:r>
              <a:t>Unified profiles</a:t>
            </a:r>
            <a:br/>
            <a:r>
              <a:t>Session storage</a:t>
            </a:r>
          </a:p>
        </p:txBody>
      </p:sp>
      <p:sp>
        <p:nvSpPr>
          <p:cNvPr id="32" name="TextBox 31"/>
          <p:cNvSpPr txBox="1"/>
          <p:nvPr/>
        </p:nvSpPr>
        <p:spPr>
          <a:xfrm>
            <a:off x="4389120" y="3410712"/>
            <a:ext cx="1783080" cy="320040"/>
          </a:xfrm>
          <a:prstGeom prst="rect">
            <a:avLst/>
          </a:prstGeom>
          <a:noFill/>
        </p:spPr>
        <p:txBody>
          <a:bodyPr wrap="square"/>
          <a:lstStyle/>
          <a:p>
            <a:pPr algn="l">
              <a:spcBef>
                <a:spcPts val="0"/>
              </a:spcBef>
              <a:spcAft>
                <a:spcPts val="0"/>
              </a:spcAft>
              <a:defRPr sz="1100" b="1">
                <a:solidFill>
                  <a:srgbClr val="0F172A"/>
                </a:solidFill>
                <a:latin typeface="Calibri"/>
              </a:defRPr>
            </a:pPr>
            <a:r>
              <a:t>Redis Cache</a:t>
            </a:r>
          </a:p>
        </p:txBody>
      </p:sp>
      <p:sp>
        <p:nvSpPr>
          <p:cNvPr id="33" name="TextBox 32"/>
          <p:cNvSpPr txBox="1"/>
          <p:nvPr/>
        </p:nvSpPr>
        <p:spPr>
          <a:xfrm>
            <a:off x="4389120" y="3685032"/>
            <a:ext cx="1783080" cy="365760"/>
          </a:xfrm>
          <a:prstGeom prst="rect">
            <a:avLst/>
          </a:prstGeom>
          <a:noFill/>
        </p:spPr>
        <p:txBody>
          <a:bodyPr wrap="square"/>
          <a:lstStyle/>
          <a:p>
            <a:pPr algn="l">
              <a:spcBef>
                <a:spcPts val="0"/>
              </a:spcBef>
              <a:spcAft>
                <a:spcPts val="0"/>
              </a:spcAft>
              <a:defRPr sz="900" b="0">
                <a:solidFill>
                  <a:srgbClr val="64748B"/>
                </a:solidFill>
                <a:latin typeface="Calibri"/>
              </a:defRPr>
            </a:pPr>
            <a:r>
              <a:t>Ad response caching</a:t>
            </a:r>
            <a:br/>
            <a:r>
              <a:t>Performance optimization</a:t>
            </a:r>
          </a:p>
        </p:txBody>
      </p:sp>
      <p:sp>
        <p:nvSpPr>
          <p:cNvPr id="34" name="Rounded Rectangle 33"/>
          <p:cNvSpPr/>
          <p:nvPr/>
        </p:nvSpPr>
        <p:spPr>
          <a:xfrm>
            <a:off x="457200" y="4114800"/>
            <a:ext cx="7772400" cy="731520"/>
          </a:xfrm>
          <a:prstGeom prst="roundRect">
            <a:avLst/>
          </a:prstGeom>
          <a:solidFill>
            <a:srgbClr val="F5F3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0080" y="4114800"/>
            <a:ext cx="1645920" cy="731520"/>
          </a:xfrm>
          <a:prstGeom prst="rect">
            <a:avLst/>
          </a:prstGeom>
          <a:noFill/>
        </p:spPr>
        <p:txBody>
          <a:bodyPr wrap="square"/>
          <a:lstStyle/>
          <a:p>
            <a:pPr algn="l">
              <a:spcBef>
                <a:spcPts val="0"/>
              </a:spcBef>
              <a:spcAft>
                <a:spcPts val="0"/>
              </a:spcAft>
              <a:defRPr sz="1300" b="1">
                <a:solidFill>
                  <a:srgbClr val="4F46E5"/>
                </a:solidFill>
                <a:latin typeface="Calibri"/>
              </a:defRPr>
            </a:pPr>
            <a:r>
              <a:t>Streaming Layer</a:t>
            </a:r>
          </a:p>
        </p:txBody>
      </p:sp>
      <p:sp>
        <p:nvSpPr>
          <p:cNvPr id="36" name="TextBox 35"/>
          <p:cNvSpPr txBox="1"/>
          <p:nvPr/>
        </p:nvSpPr>
        <p:spPr>
          <a:xfrm>
            <a:off x="2468880" y="4187952"/>
            <a:ext cx="1783080" cy="320040"/>
          </a:xfrm>
          <a:prstGeom prst="rect">
            <a:avLst/>
          </a:prstGeom>
          <a:noFill/>
        </p:spPr>
        <p:txBody>
          <a:bodyPr wrap="square"/>
          <a:lstStyle/>
          <a:p>
            <a:pPr algn="l">
              <a:spcBef>
                <a:spcPts val="0"/>
              </a:spcBef>
              <a:spcAft>
                <a:spcPts val="0"/>
              </a:spcAft>
              <a:defRPr sz="1100" b="1">
                <a:solidFill>
                  <a:srgbClr val="0F172A"/>
                </a:solidFill>
                <a:latin typeface="Calibri"/>
              </a:defRPr>
            </a:pPr>
            <a:r>
              <a:t>Redpanda</a:t>
            </a:r>
          </a:p>
        </p:txBody>
      </p:sp>
      <p:sp>
        <p:nvSpPr>
          <p:cNvPr id="37" name="TextBox 36"/>
          <p:cNvSpPr txBox="1"/>
          <p:nvPr/>
        </p:nvSpPr>
        <p:spPr>
          <a:xfrm>
            <a:off x="2468880" y="4462272"/>
            <a:ext cx="1783080" cy="365760"/>
          </a:xfrm>
          <a:prstGeom prst="rect">
            <a:avLst/>
          </a:prstGeom>
          <a:noFill/>
        </p:spPr>
        <p:txBody>
          <a:bodyPr wrap="square"/>
          <a:lstStyle/>
          <a:p>
            <a:pPr algn="l">
              <a:spcBef>
                <a:spcPts val="0"/>
              </a:spcBef>
              <a:spcAft>
                <a:spcPts val="0"/>
              </a:spcAft>
              <a:defRPr sz="900" b="0">
                <a:solidFill>
                  <a:srgbClr val="64748B"/>
                </a:solidFill>
                <a:latin typeface="Calibri"/>
              </a:defRPr>
            </a:pPr>
            <a:r>
              <a:t>Kafka-compatible</a:t>
            </a:r>
            <a:br/>
            <a:r>
              <a:t>Event streaming</a:t>
            </a:r>
          </a:p>
        </p:txBody>
      </p:sp>
      <p:sp>
        <p:nvSpPr>
          <p:cNvPr id="38" name="TextBox 37"/>
          <p:cNvSpPr txBox="1"/>
          <p:nvPr/>
        </p:nvSpPr>
        <p:spPr>
          <a:xfrm>
            <a:off x="4389120" y="4187952"/>
            <a:ext cx="1783080" cy="320040"/>
          </a:xfrm>
          <a:prstGeom prst="rect">
            <a:avLst/>
          </a:prstGeom>
          <a:noFill/>
        </p:spPr>
        <p:txBody>
          <a:bodyPr wrap="square"/>
          <a:lstStyle/>
          <a:p>
            <a:pPr algn="l">
              <a:spcBef>
                <a:spcPts val="0"/>
              </a:spcBef>
              <a:spcAft>
                <a:spcPts val="0"/>
              </a:spcAft>
              <a:defRPr sz="1100" b="1">
                <a:solidFill>
                  <a:srgbClr val="0F172A"/>
                </a:solidFill>
                <a:latin typeface="Calibri"/>
              </a:defRPr>
            </a:pPr>
            <a:r>
              <a:t>Event Consumer</a:t>
            </a:r>
          </a:p>
        </p:txBody>
      </p:sp>
      <p:sp>
        <p:nvSpPr>
          <p:cNvPr id="39" name="TextBox 38"/>
          <p:cNvSpPr txBox="1"/>
          <p:nvPr/>
        </p:nvSpPr>
        <p:spPr>
          <a:xfrm>
            <a:off x="4389120" y="4462272"/>
            <a:ext cx="1783080" cy="365760"/>
          </a:xfrm>
          <a:prstGeom prst="rect">
            <a:avLst/>
          </a:prstGeom>
          <a:noFill/>
        </p:spPr>
        <p:txBody>
          <a:bodyPr wrap="square"/>
          <a:lstStyle/>
          <a:p>
            <a:pPr algn="l">
              <a:spcBef>
                <a:spcPts val="0"/>
              </a:spcBef>
              <a:spcAft>
                <a:spcPts val="0"/>
              </a:spcAft>
              <a:defRPr sz="900" b="0">
                <a:solidFill>
                  <a:srgbClr val="64748B"/>
                </a:solidFill>
                <a:latin typeface="Calibri"/>
              </a:defRPr>
            </a:pPr>
            <a:r>
              <a:t>Async processing</a:t>
            </a:r>
            <a:br/>
            <a:r>
              <a:t>Real-time ingestion</a:t>
            </a:r>
          </a:p>
        </p:txBody>
      </p:sp>
      <p:sp>
        <p:nvSpPr>
          <p:cNvPr id="40" name="Rounded Rectangle 39"/>
          <p:cNvSpPr/>
          <p:nvPr/>
        </p:nvSpPr>
        <p:spPr>
          <a:xfrm>
            <a:off x="457200" y="4892040"/>
            <a:ext cx="7772400" cy="73152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0080" y="4892040"/>
            <a:ext cx="1645920" cy="731520"/>
          </a:xfrm>
          <a:prstGeom prst="rect">
            <a:avLst/>
          </a:prstGeom>
          <a:noFill/>
        </p:spPr>
        <p:txBody>
          <a:bodyPr wrap="square"/>
          <a:lstStyle/>
          <a:p>
            <a:pPr algn="l">
              <a:spcBef>
                <a:spcPts val="0"/>
              </a:spcBef>
              <a:spcAft>
                <a:spcPts val="0"/>
              </a:spcAft>
              <a:defRPr sz="1300" b="1">
                <a:solidFill>
                  <a:srgbClr val="DC2626"/>
                </a:solidFill>
                <a:latin typeface="Calibri"/>
              </a:defRPr>
            </a:pPr>
            <a:r>
              <a:t>Data Layer</a:t>
            </a:r>
          </a:p>
        </p:txBody>
      </p:sp>
      <p:sp>
        <p:nvSpPr>
          <p:cNvPr id="42" name="TextBox 41"/>
          <p:cNvSpPr txBox="1"/>
          <p:nvPr/>
        </p:nvSpPr>
        <p:spPr>
          <a:xfrm>
            <a:off x="2468880" y="4965192"/>
            <a:ext cx="1783080" cy="320040"/>
          </a:xfrm>
          <a:prstGeom prst="rect">
            <a:avLst/>
          </a:prstGeom>
          <a:noFill/>
        </p:spPr>
        <p:txBody>
          <a:bodyPr wrap="square"/>
          <a:lstStyle/>
          <a:p>
            <a:pPr algn="l">
              <a:spcBef>
                <a:spcPts val="0"/>
              </a:spcBef>
              <a:spcAft>
                <a:spcPts val="0"/>
              </a:spcAft>
              <a:defRPr sz="1100" b="1">
                <a:solidFill>
                  <a:srgbClr val="0F172A"/>
                </a:solidFill>
                <a:latin typeface="Calibri"/>
              </a:defRPr>
            </a:pPr>
            <a:r>
              <a:t>Clickstream Generator</a:t>
            </a:r>
          </a:p>
        </p:txBody>
      </p:sp>
      <p:sp>
        <p:nvSpPr>
          <p:cNvPr id="43" name="TextBox 42"/>
          <p:cNvSpPr txBox="1"/>
          <p:nvPr/>
        </p:nvSpPr>
        <p:spPr>
          <a:xfrm>
            <a:off x="2468880" y="5239512"/>
            <a:ext cx="1783080" cy="365760"/>
          </a:xfrm>
          <a:prstGeom prst="rect">
            <a:avLst/>
          </a:prstGeom>
          <a:noFill/>
        </p:spPr>
        <p:txBody>
          <a:bodyPr wrap="square"/>
          <a:lstStyle/>
          <a:p>
            <a:pPr algn="l">
              <a:spcBef>
                <a:spcPts val="0"/>
              </a:spcBef>
              <a:spcAft>
                <a:spcPts val="0"/>
              </a:spcAft>
              <a:defRPr sz="900" b="0">
                <a:solidFill>
                  <a:srgbClr val="64748B"/>
                </a:solidFill>
                <a:latin typeface="Calibri"/>
              </a:defRPr>
            </a:pPr>
            <a:r>
              <a:t>Multi-platform</a:t>
            </a:r>
            <a:br/>
            <a:r>
              <a:t>synthetic events</a:t>
            </a:r>
          </a:p>
        </p:txBody>
      </p:sp>
      <p:sp>
        <p:nvSpPr>
          <p:cNvPr id="44" name="TextBox 43"/>
          <p:cNvSpPr txBox="1"/>
          <p:nvPr/>
        </p:nvSpPr>
        <p:spPr>
          <a:xfrm>
            <a:off x="4389120" y="4965192"/>
            <a:ext cx="1783080" cy="320040"/>
          </a:xfrm>
          <a:prstGeom prst="rect">
            <a:avLst/>
          </a:prstGeom>
          <a:noFill/>
        </p:spPr>
        <p:txBody>
          <a:bodyPr wrap="square"/>
          <a:lstStyle/>
          <a:p>
            <a:pPr algn="l">
              <a:spcBef>
                <a:spcPts val="0"/>
              </a:spcBef>
              <a:spcAft>
                <a:spcPts val="0"/>
              </a:spcAft>
              <a:defRPr sz="1100" b="1">
                <a:solidFill>
                  <a:srgbClr val="0F172A"/>
                </a:solidFill>
                <a:latin typeface="Calibri"/>
              </a:defRPr>
            </a:pPr>
            <a:r>
              <a:t>Platform Producers</a:t>
            </a:r>
          </a:p>
        </p:txBody>
      </p:sp>
      <p:sp>
        <p:nvSpPr>
          <p:cNvPr id="45" name="TextBox 44"/>
          <p:cNvSpPr txBox="1"/>
          <p:nvPr/>
        </p:nvSpPr>
        <p:spPr>
          <a:xfrm>
            <a:off x="4389120" y="5239512"/>
            <a:ext cx="1783080" cy="365760"/>
          </a:xfrm>
          <a:prstGeom prst="rect">
            <a:avLst/>
          </a:prstGeom>
          <a:noFill/>
        </p:spPr>
        <p:txBody>
          <a:bodyPr wrap="square"/>
          <a:lstStyle/>
          <a:p>
            <a:pPr algn="l">
              <a:spcBef>
                <a:spcPts val="0"/>
              </a:spcBef>
              <a:spcAft>
                <a:spcPts val="0"/>
              </a:spcAft>
              <a:defRPr sz="900" b="0">
                <a:solidFill>
                  <a:srgbClr val="64748B"/>
                </a:solidFill>
                <a:latin typeface="Calibri"/>
              </a:defRPr>
            </a:pPr>
            <a:r>
              <a:t>Platform A &amp; B</a:t>
            </a:r>
            <a:br/>
            <a:r>
              <a:t>Session data</a:t>
            </a:r>
          </a:p>
        </p:txBody>
      </p:sp>
      <p:sp>
        <p:nvSpPr>
          <p:cNvPr id="46" name="Rounded Rectangle 45"/>
          <p:cNvSpPr/>
          <p:nvPr/>
        </p:nvSpPr>
        <p:spPr>
          <a:xfrm>
            <a:off x="8503920" y="1005840"/>
            <a:ext cx="320040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686800" y="1143000"/>
            <a:ext cx="2834640" cy="365760"/>
          </a:xfrm>
          <a:prstGeom prst="rect">
            <a:avLst/>
          </a:prstGeom>
          <a:noFill/>
        </p:spPr>
        <p:txBody>
          <a:bodyPr wrap="square"/>
          <a:lstStyle/>
          <a:p>
            <a:pPr algn="l">
              <a:spcBef>
                <a:spcPts val="0"/>
              </a:spcBef>
              <a:spcAft>
                <a:spcPts val="0"/>
              </a:spcAft>
              <a:defRPr sz="1600" b="1">
                <a:solidFill>
                  <a:srgbClr val="0F172A"/>
                </a:solidFill>
                <a:latin typeface="Calibri"/>
              </a:defRPr>
            </a:pPr>
            <a:r>
              <a:t>Architecture Layers</a:t>
            </a:r>
          </a:p>
        </p:txBody>
      </p:sp>
      <p:sp>
        <p:nvSpPr>
          <p:cNvPr id="48" name="Rounded Rectangle 47"/>
          <p:cNvSpPr/>
          <p:nvPr/>
        </p:nvSpPr>
        <p:spPr>
          <a:xfrm>
            <a:off x="8732520" y="1554480"/>
            <a:ext cx="22860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098280" y="1554480"/>
            <a:ext cx="2286000" cy="274320"/>
          </a:xfrm>
          <a:prstGeom prst="rect">
            <a:avLst/>
          </a:prstGeom>
          <a:noFill/>
        </p:spPr>
        <p:txBody>
          <a:bodyPr wrap="square"/>
          <a:lstStyle/>
          <a:p>
            <a:pPr algn="l">
              <a:spcBef>
                <a:spcPts val="0"/>
              </a:spcBef>
              <a:spcAft>
                <a:spcPts val="0"/>
              </a:spcAft>
              <a:defRPr sz="1200" b="0">
                <a:solidFill>
                  <a:srgbClr val="334255"/>
                </a:solidFill>
                <a:latin typeface="Calibri"/>
              </a:defRPr>
            </a:pPr>
            <a:r>
              <a:t>Presentation Layer</a:t>
            </a:r>
          </a:p>
        </p:txBody>
      </p:sp>
      <p:sp>
        <p:nvSpPr>
          <p:cNvPr id="50" name="Rounded Rectangle 49"/>
          <p:cNvSpPr/>
          <p:nvPr/>
        </p:nvSpPr>
        <p:spPr>
          <a:xfrm>
            <a:off x="8732520" y="2057400"/>
            <a:ext cx="228600" cy="22860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098280" y="2057400"/>
            <a:ext cx="2286000" cy="274320"/>
          </a:xfrm>
          <a:prstGeom prst="rect">
            <a:avLst/>
          </a:prstGeom>
          <a:noFill/>
        </p:spPr>
        <p:txBody>
          <a:bodyPr wrap="square"/>
          <a:lstStyle/>
          <a:p>
            <a:pPr algn="l">
              <a:spcBef>
                <a:spcPts val="0"/>
              </a:spcBef>
              <a:spcAft>
                <a:spcPts val="0"/>
              </a:spcAft>
              <a:defRPr sz="1200" b="0">
                <a:solidFill>
                  <a:srgbClr val="334255"/>
                </a:solidFill>
                <a:latin typeface="Calibri"/>
              </a:defRPr>
            </a:pPr>
            <a:r>
              <a:t>API Layer</a:t>
            </a:r>
          </a:p>
        </p:txBody>
      </p:sp>
      <p:sp>
        <p:nvSpPr>
          <p:cNvPr id="52" name="Rounded Rectangle 51"/>
          <p:cNvSpPr/>
          <p:nvPr/>
        </p:nvSpPr>
        <p:spPr>
          <a:xfrm>
            <a:off x="8732520" y="2560320"/>
            <a:ext cx="22860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098280" y="2560320"/>
            <a:ext cx="2286000" cy="274320"/>
          </a:xfrm>
          <a:prstGeom prst="rect">
            <a:avLst/>
          </a:prstGeom>
          <a:noFill/>
        </p:spPr>
        <p:txBody>
          <a:bodyPr wrap="square"/>
          <a:lstStyle/>
          <a:p>
            <a:pPr algn="l">
              <a:spcBef>
                <a:spcPts val="0"/>
              </a:spcBef>
              <a:spcAft>
                <a:spcPts val="0"/>
              </a:spcAft>
              <a:defRPr sz="1200" b="0">
                <a:solidFill>
                  <a:srgbClr val="334255"/>
                </a:solidFill>
                <a:latin typeface="Calibri"/>
              </a:defRPr>
            </a:pPr>
            <a:r>
              <a:t>AI Layer</a:t>
            </a:r>
          </a:p>
        </p:txBody>
      </p:sp>
      <p:sp>
        <p:nvSpPr>
          <p:cNvPr id="54" name="Rounded Rectangle 53"/>
          <p:cNvSpPr/>
          <p:nvPr/>
        </p:nvSpPr>
        <p:spPr>
          <a:xfrm>
            <a:off x="8732520" y="3063240"/>
            <a:ext cx="228600" cy="2286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098280" y="3063240"/>
            <a:ext cx="2286000" cy="274320"/>
          </a:xfrm>
          <a:prstGeom prst="rect">
            <a:avLst/>
          </a:prstGeom>
          <a:noFill/>
        </p:spPr>
        <p:txBody>
          <a:bodyPr wrap="square"/>
          <a:lstStyle/>
          <a:p>
            <a:pPr algn="l">
              <a:spcBef>
                <a:spcPts val="0"/>
              </a:spcBef>
              <a:spcAft>
                <a:spcPts val="0"/>
              </a:spcAft>
              <a:defRPr sz="1200" b="0">
                <a:solidFill>
                  <a:srgbClr val="334255"/>
                </a:solidFill>
                <a:latin typeface="Calibri"/>
              </a:defRPr>
            </a:pPr>
            <a:r>
              <a:t>Storage Layer</a:t>
            </a:r>
          </a:p>
        </p:txBody>
      </p:sp>
      <p:sp>
        <p:nvSpPr>
          <p:cNvPr id="56" name="Rounded Rectangle 55"/>
          <p:cNvSpPr/>
          <p:nvPr/>
        </p:nvSpPr>
        <p:spPr>
          <a:xfrm>
            <a:off x="8732520" y="3566160"/>
            <a:ext cx="228600" cy="22860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098280" y="3566160"/>
            <a:ext cx="2286000" cy="274320"/>
          </a:xfrm>
          <a:prstGeom prst="rect">
            <a:avLst/>
          </a:prstGeom>
          <a:noFill/>
        </p:spPr>
        <p:txBody>
          <a:bodyPr wrap="square"/>
          <a:lstStyle/>
          <a:p>
            <a:pPr algn="l">
              <a:spcBef>
                <a:spcPts val="0"/>
              </a:spcBef>
              <a:spcAft>
                <a:spcPts val="0"/>
              </a:spcAft>
              <a:defRPr sz="1200" b="0">
                <a:solidFill>
                  <a:srgbClr val="334255"/>
                </a:solidFill>
                <a:latin typeface="Calibri"/>
              </a:defRPr>
            </a:pPr>
            <a:r>
              <a:t>Streaming Layer</a:t>
            </a:r>
          </a:p>
        </p:txBody>
      </p:sp>
      <p:sp>
        <p:nvSpPr>
          <p:cNvPr id="58" name="Rounded Rectangle 57"/>
          <p:cNvSpPr/>
          <p:nvPr/>
        </p:nvSpPr>
        <p:spPr>
          <a:xfrm>
            <a:off x="8732520" y="4069080"/>
            <a:ext cx="228600" cy="22860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098280" y="4069080"/>
            <a:ext cx="2286000" cy="274320"/>
          </a:xfrm>
          <a:prstGeom prst="rect">
            <a:avLst/>
          </a:prstGeom>
          <a:noFill/>
        </p:spPr>
        <p:txBody>
          <a:bodyPr wrap="square"/>
          <a:lstStyle/>
          <a:p>
            <a:pPr algn="l">
              <a:spcBef>
                <a:spcPts val="0"/>
              </a:spcBef>
              <a:spcAft>
                <a:spcPts val="0"/>
              </a:spcAft>
              <a:defRPr sz="1200" b="0">
                <a:solidFill>
                  <a:srgbClr val="334255"/>
                </a:solidFill>
                <a:latin typeface="Calibri"/>
              </a:defRPr>
            </a:pPr>
            <a:r>
              <a:t>Data Layer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640080"/>
          </a:xfrm>
          <a:prstGeom prst="rect">
            <a:avLst/>
          </a:prstGeom>
          <a:noFill/>
        </p:spPr>
        <p:txBody>
          <a:bodyPr wrap="square"/>
          <a:lstStyle/>
          <a:p>
            <a:pPr algn="l">
              <a:spcBef>
                <a:spcPts val="0"/>
              </a:spcBef>
              <a:spcAft>
                <a:spcPts val="0"/>
              </a:spcAft>
              <a:defRPr sz="3600" b="1">
                <a:solidFill>
                  <a:srgbClr val="0F172A"/>
                </a:solidFill>
                <a:latin typeface="Calibri"/>
              </a:defRPr>
            </a:pPr>
            <a:r>
              <a:t>Prototype Demonstration</a:t>
            </a:r>
          </a:p>
        </p:txBody>
      </p:sp>
      <p:sp>
        <p:nvSpPr>
          <p:cNvPr id="4" name="TextBox 3"/>
          <p:cNvSpPr txBox="1"/>
          <p:nvPr/>
        </p:nvSpPr>
        <p:spPr>
          <a:xfrm>
            <a:off x="640080" y="914400"/>
            <a:ext cx="10058400" cy="365760"/>
          </a:xfrm>
          <a:prstGeom prst="rect">
            <a:avLst/>
          </a:prstGeom>
          <a:noFill/>
        </p:spPr>
        <p:txBody>
          <a:bodyPr wrap="square"/>
          <a:lstStyle/>
          <a:p>
            <a:pPr algn="l">
              <a:spcBef>
                <a:spcPts val="0"/>
              </a:spcBef>
              <a:spcAft>
                <a:spcPts val="0"/>
              </a:spcAft>
              <a:defRPr sz="2200" b="0">
                <a:solidFill>
                  <a:srgbClr val="64748B"/>
                </a:solidFill>
                <a:latin typeface="Calibri"/>
              </a:defRPr>
            </a:pPr>
            <a:r>
              <a:t>From live event ingestion to AI-generated advertisements</a:t>
            </a:r>
          </a:p>
        </p:txBody>
      </p:sp>
      <p:sp>
        <p:nvSpPr>
          <p:cNvPr id="5" name="Rounded Rectangle 4"/>
          <p:cNvSpPr/>
          <p:nvPr/>
        </p:nvSpPr>
        <p:spPr>
          <a:xfrm>
            <a:off x="320040" y="1554480"/>
            <a:ext cx="1783080"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20040" y="1554480"/>
            <a:ext cx="1783080"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783080"/>
            <a:ext cx="1143000" cy="8229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783080"/>
            <a:ext cx="1143000" cy="822960"/>
          </a:xfrm>
          <a:prstGeom prst="rect">
            <a:avLst/>
          </a:prstGeom>
          <a:noFill/>
        </p:spPr>
        <p:txBody>
          <a:bodyPr wrap="square"/>
          <a:lstStyle/>
          <a:p>
            <a:pPr algn="ctr">
              <a:spcBef>
                <a:spcPts val="0"/>
              </a:spcBef>
              <a:spcAft>
                <a:spcPts val="0"/>
              </a:spcAft>
              <a:defRPr sz="3600" b="0">
                <a:solidFill>
                  <a:srgbClr val="0F172A"/>
                </a:solidFill>
                <a:latin typeface="Calibri"/>
              </a:defRPr>
            </a:pPr>
            <a:r>
              <a:t>📡</a:t>
            </a:r>
          </a:p>
        </p:txBody>
      </p:sp>
      <p:sp>
        <p:nvSpPr>
          <p:cNvPr id="9" name="TextBox 8"/>
          <p:cNvSpPr txBox="1"/>
          <p:nvPr/>
        </p:nvSpPr>
        <p:spPr>
          <a:xfrm>
            <a:off x="457200" y="2743200"/>
            <a:ext cx="1508760" cy="365760"/>
          </a:xfrm>
          <a:prstGeom prst="rect">
            <a:avLst/>
          </a:prstGeom>
          <a:noFill/>
        </p:spPr>
        <p:txBody>
          <a:bodyPr wrap="square"/>
          <a:lstStyle/>
          <a:p>
            <a:pPr algn="ctr">
              <a:spcBef>
                <a:spcPts val="0"/>
              </a:spcBef>
              <a:spcAft>
                <a:spcPts val="0"/>
              </a:spcAft>
              <a:defRPr sz="1400" b="1">
                <a:solidFill>
                  <a:srgbClr val="0F172A"/>
                </a:solidFill>
                <a:latin typeface="Calibri"/>
              </a:defRPr>
            </a:pPr>
            <a:r>
              <a:t>Live Feed</a:t>
            </a:r>
          </a:p>
        </p:txBody>
      </p:sp>
      <p:sp>
        <p:nvSpPr>
          <p:cNvPr id="10" name="TextBox 9"/>
          <p:cNvSpPr txBox="1"/>
          <p:nvPr/>
        </p:nvSpPr>
        <p:spPr>
          <a:xfrm>
            <a:off x="457200" y="3154680"/>
            <a:ext cx="1508760" cy="822960"/>
          </a:xfrm>
          <a:prstGeom prst="rect">
            <a:avLst/>
          </a:prstGeom>
          <a:noFill/>
        </p:spPr>
        <p:txBody>
          <a:bodyPr wrap="square"/>
          <a:lstStyle/>
          <a:p>
            <a:pPr algn="ctr">
              <a:spcBef>
                <a:spcPts val="0"/>
              </a:spcBef>
              <a:spcAft>
                <a:spcPts val="0"/>
              </a:spcAft>
              <a:defRPr sz="1100" b="0">
                <a:solidFill>
                  <a:srgbClr val="64748B"/>
                </a:solidFill>
                <a:latin typeface="Calibri"/>
              </a:defRPr>
            </a:pPr>
            <a:r>
              <a:t>Real-time clickstream</a:t>
            </a:r>
            <a:br/>
            <a:r>
              <a:t>event ingestion table</a:t>
            </a:r>
            <a:br/>
            <a:r>
              <a:t>with filtering &amp; simulation</a:t>
            </a:r>
          </a:p>
        </p:txBody>
      </p:sp>
      <p:sp>
        <p:nvSpPr>
          <p:cNvPr id="11" name="Right Arrow 10"/>
          <p:cNvSpPr/>
          <p:nvPr/>
        </p:nvSpPr>
        <p:spPr>
          <a:xfrm>
            <a:off x="2112264" y="2468880"/>
            <a:ext cx="54864" cy="18288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176272" y="1554480"/>
            <a:ext cx="1783080"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2176272" y="1554480"/>
            <a:ext cx="1783080"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496312" y="1783080"/>
            <a:ext cx="1143000" cy="8229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96312" y="1783080"/>
            <a:ext cx="1143000" cy="822960"/>
          </a:xfrm>
          <a:prstGeom prst="rect">
            <a:avLst/>
          </a:prstGeom>
          <a:noFill/>
        </p:spPr>
        <p:txBody>
          <a:bodyPr wrap="square"/>
          <a:lstStyle/>
          <a:p>
            <a:pPr algn="ctr">
              <a:spcBef>
                <a:spcPts val="0"/>
              </a:spcBef>
              <a:spcAft>
                <a:spcPts val="0"/>
              </a:spcAft>
              <a:defRPr sz="3600" b="0">
                <a:solidFill>
                  <a:srgbClr val="0F172A"/>
                </a:solidFill>
                <a:latin typeface="Calibri"/>
              </a:defRPr>
            </a:pPr>
            <a:r>
              <a:t>🔍</a:t>
            </a:r>
          </a:p>
        </p:txBody>
      </p:sp>
      <p:sp>
        <p:nvSpPr>
          <p:cNvPr id="16" name="TextBox 15"/>
          <p:cNvSpPr txBox="1"/>
          <p:nvPr/>
        </p:nvSpPr>
        <p:spPr>
          <a:xfrm>
            <a:off x="2313432" y="2743200"/>
            <a:ext cx="1508760" cy="365760"/>
          </a:xfrm>
          <a:prstGeom prst="rect">
            <a:avLst/>
          </a:prstGeom>
          <a:noFill/>
        </p:spPr>
        <p:txBody>
          <a:bodyPr wrap="square"/>
          <a:lstStyle/>
          <a:p>
            <a:pPr algn="ctr">
              <a:spcBef>
                <a:spcPts val="0"/>
              </a:spcBef>
              <a:spcAft>
                <a:spcPts val="0"/>
              </a:spcAft>
              <a:defRPr sz="1400" b="1">
                <a:solidFill>
                  <a:srgbClr val="0F172A"/>
                </a:solidFill>
                <a:latin typeface="Calibri"/>
              </a:defRPr>
            </a:pPr>
            <a:r>
              <a:t>Identity Explorer</a:t>
            </a:r>
          </a:p>
        </p:txBody>
      </p:sp>
      <p:sp>
        <p:nvSpPr>
          <p:cNvPr id="17" name="TextBox 16"/>
          <p:cNvSpPr txBox="1"/>
          <p:nvPr/>
        </p:nvSpPr>
        <p:spPr>
          <a:xfrm>
            <a:off x="2313432" y="3154680"/>
            <a:ext cx="1508760" cy="822960"/>
          </a:xfrm>
          <a:prstGeom prst="rect">
            <a:avLst/>
          </a:prstGeom>
          <a:noFill/>
        </p:spPr>
        <p:txBody>
          <a:bodyPr wrap="square"/>
          <a:lstStyle/>
          <a:p>
            <a:pPr algn="ctr">
              <a:spcBef>
                <a:spcPts val="0"/>
              </a:spcBef>
              <a:spcAft>
                <a:spcPts val="0"/>
              </a:spcAft>
              <a:defRPr sz="1100" b="0">
                <a:solidFill>
                  <a:srgbClr val="64748B"/>
                </a:solidFill>
                <a:latin typeface="Calibri"/>
              </a:defRPr>
            </a:pPr>
            <a:r>
              <a:t>Search by Global UID</a:t>
            </a:r>
            <a:br/>
            <a:r>
              <a:t>view session graph</a:t>
            </a:r>
            <a:br/>
            <a:r>
              <a:t>match method stats</a:t>
            </a:r>
          </a:p>
        </p:txBody>
      </p:sp>
      <p:sp>
        <p:nvSpPr>
          <p:cNvPr id="18" name="Right Arrow 17"/>
          <p:cNvSpPr/>
          <p:nvPr/>
        </p:nvSpPr>
        <p:spPr>
          <a:xfrm>
            <a:off x="3968496" y="2468880"/>
            <a:ext cx="54864" cy="18288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032504" y="1554480"/>
            <a:ext cx="1783080"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032504" y="1554480"/>
            <a:ext cx="1783080"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352544" y="1783080"/>
            <a:ext cx="1143000" cy="8229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52544" y="1783080"/>
            <a:ext cx="1143000" cy="822960"/>
          </a:xfrm>
          <a:prstGeom prst="rect">
            <a:avLst/>
          </a:prstGeom>
          <a:noFill/>
        </p:spPr>
        <p:txBody>
          <a:bodyPr wrap="square"/>
          <a:lstStyle/>
          <a:p>
            <a:pPr algn="ctr">
              <a:spcBef>
                <a:spcPts val="0"/>
              </a:spcBef>
              <a:spcAft>
                <a:spcPts val="0"/>
              </a:spcAft>
              <a:defRPr sz="3600" b="0">
                <a:solidFill>
                  <a:srgbClr val="0F172A"/>
                </a:solidFill>
                <a:latin typeface="Calibri"/>
              </a:defRPr>
            </a:pPr>
            <a:r>
              <a:t>👤</a:t>
            </a:r>
          </a:p>
        </p:txBody>
      </p:sp>
      <p:sp>
        <p:nvSpPr>
          <p:cNvPr id="23" name="TextBox 22"/>
          <p:cNvSpPr txBox="1"/>
          <p:nvPr/>
        </p:nvSpPr>
        <p:spPr>
          <a:xfrm>
            <a:off x="4169664" y="2743200"/>
            <a:ext cx="1508760" cy="365760"/>
          </a:xfrm>
          <a:prstGeom prst="rect">
            <a:avLst/>
          </a:prstGeom>
          <a:noFill/>
        </p:spPr>
        <p:txBody>
          <a:bodyPr wrap="square"/>
          <a:lstStyle/>
          <a:p>
            <a:pPr algn="ctr">
              <a:spcBef>
                <a:spcPts val="0"/>
              </a:spcBef>
              <a:spcAft>
                <a:spcPts val="0"/>
              </a:spcAft>
              <a:defRPr sz="1400" b="1">
                <a:solidFill>
                  <a:srgbClr val="0F172A"/>
                </a:solidFill>
                <a:latin typeface="Calibri"/>
              </a:defRPr>
            </a:pPr>
            <a:r>
              <a:t>Unified Profile</a:t>
            </a:r>
          </a:p>
        </p:txBody>
      </p:sp>
      <p:sp>
        <p:nvSpPr>
          <p:cNvPr id="24" name="TextBox 23"/>
          <p:cNvSpPr txBox="1"/>
          <p:nvPr/>
        </p:nvSpPr>
        <p:spPr>
          <a:xfrm>
            <a:off x="4169664" y="3154680"/>
            <a:ext cx="1508760" cy="822960"/>
          </a:xfrm>
          <a:prstGeom prst="rect">
            <a:avLst/>
          </a:prstGeom>
          <a:noFill/>
        </p:spPr>
        <p:txBody>
          <a:bodyPr wrap="square"/>
          <a:lstStyle/>
          <a:p>
            <a:pPr algn="ctr">
              <a:spcBef>
                <a:spcPts val="0"/>
              </a:spcBef>
              <a:spcAft>
                <a:spcPts val="0"/>
              </a:spcAft>
              <a:defRPr sz="1100" b="0">
                <a:solidFill>
                  <a:srgbClr val="64748B"/>
                </a:solidFill>
                <a:latin typeface="Calibri"/>
              </a:defRPr>
            </a:pPr>
            <a:r>
              <a:t>Device fingerprints</a:t>
            </a:r>
            <a:br/>
            <a:r>
              <a:t>location history</a:t>
            </a:r>
            <a:br/>
            <a:r>
              <a:t>intent analysis</a:t>
            </a:r>
          </a:p>
        </p:txBody>
      </p:sp>
      <p:sp>
        <p:nvSpPr>
          <p:cNvPr id="25" name="Right Arrow 24"/>
          <p:cNvSpPr/>
          <p:nvPr/>
        </p:nvSpPr>
        <p:spPr>
          <a:xfrm>
            <a:off x="5824728" y="2468880"/>
            <a:ext cx="54864" cy="18288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5888736" y="1554480"/>
            <a:ext cx="1783080"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5888736" y="1554480"/>
            <a:ext cx="1783080"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208776" y="1783080"/>
            <a:ext cx="1143000" cy="8229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08776" y="1783080"/>
            <a:ext cx="1143000" cy="822960"/>
          </a:xfrm>
          <a:prstGeom prst="rect">
            <a:avLst/>
          </a:prstGeom>
          <a:noFill/>
        </p:spPr>
        <p:txBody>
          <a:bodyPr wrap="square"/>
          <a:lstStyle/>
          <a:p>
            <a:pPr algn="ctr">
              <a:spcBef>
                <a:spcPts val="0"/>
              </a:spcBef>
              <a:spcAft>
                <a:spcPts val="0"/>
              </a:spcAft>
              <a:defRPr sz="3600" b="0">
                <a:solidFill>
                  <a:srgbClr val="0F172A"/>
                </a:solidFill>
                <a:latin typeface="Calibri"/>
              </a:defRPr>
            </a:pPr>
            <a:r>
              <a:t>🧠</a:t>
            </a:r>
          </a:p>
        </p:txBody>
      </p:sp>
      <p:sp>
        <p:nvSpPr>
          <p:cNvPr id="30" name="TextBox 29"/>
          <p:cNvSpPr txBox="1"/>
          <p:nvPr/>
        </p:nvSpPr>
        <p:spPr>
          <a:xfrm>
            <a:off x="6025896" y="2743200"/>
            <a:ext cx="1508760" cy="365760"/>
          </a:xfrm>
          <a:prstGeom prst="rect">
            <a:avLst/>
          </a:prstGeom>
          <a:noFill/>
        </p:spPr>
        <p:txBody>
          <a:bodyPr wrap="square"/>
          <a:lstStyle/>
          <a:p>
            <a:pPr algn="ctr">
              <a:spcBef>
                <a:spcPts val="0"/>
              </a:spcBef>
              <a:spcAft>
                <a:spcPts val="0"/>
              </a:spcAft>
              <a:defRPr sz="1400" b="1">
                <a:solidFill>
                  <a:srgbClr val="0F172A"/>
                </a:solidFill>
                <a:latin typeface="Calibri"/>
              </a:defRPr>
            </a:pPr>
            <a:r>
              <a:t>Intent Intelligence</a:t>
            </a:r>
          </a:p>
        </p:txBody>
      </p:sp>
      <p:sp>
        <p:nvSpPr>
          <p:cNvPr id="31" name="TextBox 30"/>
          <p:cNvSpPr txBox="1"/>
          <p:nvPr/>
        </p:nvSpPr>
        <p:spPr>
          <a:xfrm>
            <a:off x="6025896" y="3154680"/>
            <a:ext cx="1508760" cy="822960"/>
          </a:xfrm>
          <a:prstGeom prst="rect">
            <a:avLst/>
          </a:prstGeom>
          <a:noFill/>
        </p:spPr>
        <p:txBody>
          <a:bodyPr wrap="square"/>
          <a:lstStyle/>
          <a:p>
            <a:pPr algn="ctr">
              <a:spcBef>
                <a:spcPts val="0"/>
              </a:spcBef>
              <a:spcAft>
                <a:spcPts val="0"/>
              </a:spcAft>
              <a:defRPr sz="1100" b="0">
                <a:solidFill>
                  <a:srgbClr val="64748B"/>
                </a:solidFill>
                <a:latin typeface="Calibri"/>
              </a:defRPr>
            </a:pPr>
            <a:r>
              <a:t>LLM-generated purchase</a:t>
            </a:r>
            <a:br/>
            <a:r>
              <a:t>intent profile with</a:t>
            </a:r>
            <a:br/>
            <a:r>
              <a:t>confidence scoring</a:t>
            </a:r>
          </a:p>
        </p:txBody>
      </p:sp>
      <p:sp>
        <p:nvSpPr>
          <p:cNvPr id="32" name="Right Arrow 31"/>
          <p:cNvSpPr/>
          <p:nvPr/>
        </p:nvSpPr>
        <p:spPr>
          <a:xfrm>
            <a:off x="7680960" y="2468880"/>
            <a:ext cx="54864" cy="18288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7744968" y="1554480"/>
            <a:ext cx="1783080"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7744968" y="1554480"/>
            <a:ext cx="1783080"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065008" y="1783080"/>
            <a:ext cx="1143000" cy="8229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065008" y="1783080"/>
            <a:ext cx="1143000" cy="822960"/>
          </a:xfrm>
          <a:prstGeom prst="rect">
            <a:avLst/>
          </a:prstGeom>
          <a:noFill/>
        </p:spPr>
        <p:txBody>
          <a:bodyPr wrap="square"/>
          <a:lstStyle/>
          <a:p>
            <a:pPr algn="ctr">
              <a:spcBef>
                <a:spcPts val="0"/>
              </a:spcBef>
              <a:spcAft>
                <a:spcPts val="0"/>
              </a:spcAft>
              <a:defRPr sz="3600" b="0">
                <a:solidFill>
                  <a:srgbClr val="0F172A"/>
                </a:solidFill>
                <a:latin typeface="Calibri"/>
              </a:defRPr>
            </a:pPr>
            <a:r>
              <a:t>🎯</a:t>
            </a:r>
          </a:p>
        </p:txBody>
      </p:sp>
      <p:sp>
        <p:nvSpPr>
          <p:cNvPr id="37" name="TextBox 36"/>
          <p:cNvSpPr txBox="1"/>
          <p:nvPr/>
        </p:nvSpPr>
        <p:spPr>
          <a:xfrm>
            <a:off x="7882128" y="2743200"/>
            <a:ext cx="1508760" cy="365760"/>
          </a:xfrm>
          <a:prstGeom prst="rect">
            <a:avLst/>
          </a:prstGeom>
          <a:noFill/>
        </p:spPr>
        <p:txBody>
          <a:bodyPr wrap="square"/>
          <a:lstStyle/>
          <a:p>
            <a:pPr algn="ctr">
              <a:spcBef>
                <a:spcPts val="0"/>
              </a:spcBef>
              <a:spcAft>
                <a:spcPts val="0"/>
              </a:spcAft>
              <a:defRPr sz="1400" b="1">
                <a:solidFill>
                  <a:srgbClr val="0F172A"/>
                </a:solidFill>
                <a:latin typeface="Calibri"/>
              </a:defRPr>
            </a:pPr>
            <a:r>
              <a:t>Product Match</a:t>
            </a:r>
          </a:p>
        </p:txBody>
      </p:sp>
      <p:sp>
        <p:nvSpPr>
          <p:cNvPr id="38" name="TextBox 37"/>
          <p:cNvSpPr txBox="1"/>
          <p:nvPr/>
        </p:nvSpPr>
        <p:spPr>
          <a:xfrm>
            <a:off x="7882128" y="3154680"/>
            <a:ext cx="1508760" cy="822960"/>
          </a:xfrm>
          <a:prstGeom prst="rect">
            <a:avLst/>
          </a:prstGeom>
          <a:noFill/>
        </p:spPr>
        <p:txBody>
          <a:bodyPr wrap="square"/>
          <a:lstStyle/>
          <a:p>
            <a:pPr algn="ctr">
              <a:spcBef>
                <a:spcPts val="0"/>
              </a:spcBef>
              <a:spcAft>
                <a:spcPts val="0"/>
              </a:spcAft>
              <a:defRPr sz="1100" b="0">
                <a:solidFill>
                  <a:srgbClr val="64748B"/>
                </a:solidFill>
                <a:latin typeface="Calibri"/>
              </a:defRPr>
            </a:pPr>
            <a:r>
              <a:t>Qdrant vector search</a:t>
            </a:r>
            <a:br/>
            <a:r>
              <a:t>semantic product</a:t>
            </a:r>
            <a:br/>
            <a:r>
              <a:t>recommendations</a:t>
            </a:r>
          </a:p>
        </p:txBody>
      </p:sp>
      <p:sp>
        <p:nvSpPr>
          <p:cNvPr id="39" name="Right Arrow 38"/>
          <p:cNvSpPr/>
          <p:nvPr/>
        </p:nvSpPr>
        <p:spPr>
          <a:xfrm>
            <a:off x="9537192" y="2468880"/>
            <a:ext cx="54864" cy="18288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9601200" y="1554480"/>
            <a:ext cx="1783080"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9601200" y="1554480"/>
            <a:ext cx="1783080"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9921240" y="1783080"/>
            <a:ext cx="1143000" cy="8229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921240" y="1783080"/>
            <a:ext cx="1143000" cy="822960"/>
          </a:xfrm>
          <a:prstGeom prst="rect">
            <a:avLst/>
          </a:prstGeom>
          <a:noFill/>
        </p:spPr>
        <p:txBody>
          <a:bodyPr wrap="square"/>
          <a:lstStyle/>
          <a:p>
            <a:pPr algn="ctr">
              <a:spcBef>
                <a:spcPts val="0"/>
              </a:spcBef>
              <a:spcAft>
                <a:spcPts val="0"/>
              </a:spcAft>
              <a:defRPr sz="3600" b="0">
                <a:solidFill>
                  <a:srgbClr val="0F172A"/>
                </a:solidFill>
                <a:latin typeface="Calibri"/>
              </a:defRPr>
            </a:pPr>
            <a:r>
              <a:t>📣</a:t>
            </a:r>
          </a:p>
        </p:txBody>
      </p:sp>
      <p:sp>
        <p:nvSpPr>
          <p:cNvPr id="44" name="TextBox 43"/>
          <p:cNvSpPr txBox="1"/>
          <p:nvPr/>
        </p:nvSpPr>
        <p:spPr>
          <a:xfrm>
            <a:off x="9738360" y="2743200"/>
            <a:ext cx="1508760" cy="365760"/>
          </a:xfrm>
          <a:prstGeom prst="rect">
            <a:avLst/>
          </a:prstGeom>
          <a:noFill/>
        </p:spPr>
        <p:txBody>
          <a:bodyPr wrap="square"/>
          <a:lstStyle/>
          <a:p>
            <a:pPr algn="ctr">
              <a:spcBef>
                <a:spcPts val="0"/>
              </a:spcBef>
              <a:spcAft>
                <a:spcPts val="0"/>
              </a:spcAft>
              <a:defRPr sz="1400" b="1">
                <a:solidFill>
                  <a:srgbClr val="0F172A"/>
                </a:solidFill>
                <a:latin typeface="Calibri"/>
              </a:defRPr>
            </a:pPr>
            <a:r>
              <a:t>Ad Creative</a:t>
            </a:r>
          </a:p>
        </p:txBody>
      </p:sp>
      <p:sp>
        <p:nvSpPr>
          <p:cNvPr id="45" name="TextBox 44"/>
          <p:cNvSpPr txBox="1"/>
          <p:nvPr/>
        </p:nvSpPr>
        <p:spPr>
          <a:xfrm>
            <a:off x="9738360" y="3154680"/>
            <a:ext cx="1508760" cy="822960"/>
          </a:xfrm>
          <a:prstGeom prst="rect">
            <a:avLst/>
          </a:prstGeom>
          <a:noFill/>
        </p:spPr>
        <p:txBody>
          <a:bodyPr wrap="square"/>
          <a:lstStyle/>
          <a:p>
            <a:pPr algn="ctr">
              <a:spcBef>
                <a:spcPts val="0"/>
              </a:spcBef>
              <a:spcAft>
                <a:spcPts val="0"/>
              </a:spcAft>
              <a:defRPr sz="1100" b="0">
                <a:solidFill>
                  <a:srgbClr val="64748B"/>
                </a:solidFill>
                <a:latin typeface="Calibri"/>
              </a:defRPr>
            </a:pPr>
            <a:r>
              <a:t>Personalized headline</a:t>
            </a:r>
            <a:br/>
            <a:r>
              <a:t>CTA + product links</a:t>
            </a:r>
            <a:br/>
            <a:r>
              <a:t>with refresh capability</a:t>
            </a:r>
          </a:p>
        </p:txBody>
      </p:sp>
      <p:sp>
        <p:nvSpPr>
          <p:cNvPr id="46" name="Rounded Rectangle 45"/>
          <p:cNvSpPr/>
          <p:nvPr/>
        </p:nvSpPr>
        <p:spPr>
          <a:xfrm>
            <a:off x="320040" y="4389120"/>
            <a:ext cx="11247120" cy="3657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40080" y="4663440"/>
            <a:ext cx="10058400" cy="457200"/>
          </a:xfrm>
          <a:prstGeom prst="rect">
            <a:avLst/>
          </a:prstGeom>
          <a:noFill/>
        </p:spPr>
        <p:txBody>
          <a:bodyPr wrap="square"/>
          <a:lstStyle/>
          <a:p>
            <a:pPr algn="l">
              <a:spcBef>
                <a:spcPts val="0"/>
              </a:spcBef>
              <a:spcAft>
                <a:spcPts val="0"/>
              </a:spcAft>
              <a:defRPr sz="2200" b="1">
                <a:solidFill>
                  <a:srgbClr val="0F172A"/>
                </a:solidFill>
                <a:latin typeface="Calibri"/>
              </a:defRPr>
            </a:pPr>
            <a:r>
              <a:t>Application Highlights</a:t>
            </a:r>
          </a:p>
        </p:txBody>
      </p:sp>
      <p:sp>
        <p:nvSpPr>
          <p:cNvPr id="48" name="TextBox 47"/>
          <p:cNvSpPr txBox="1"/>
          <p:nvPr/>
        </p:nvSpPr>
        <p:spPr>
          <a:xfrm>
            <a:off x="640080" y="5120640"/>
            <a:ext cx="5029200" cy="365760"/>
          </a:xfrm>
          <a:prstGeom prst="rect">
            <a:avLst/>
          </a:prstGeom>
          <a:noFill/>
        </p:spPr>
        <p:txBody>
          <a:bodyPr wrap="square"/>
          <a:lstStyle/>
          <a:p>
            <a:pPr algn="l">
              <a:spcBef>
                <a:spcPts val="0"/>
              </a:spcBef>
              <a:spcAft>
                <a:spcPts val="0"/>
              </a:spcAft>
              <a:defRPr sz="1500" b="0">
                <a:solidFill>
                  <a:srgbClr val="334255"/>
                </a:solidFill>
                <a:latin typeface="Calibri"/>
              </a:defRPr>
            </a:pPr>
            <a:r>
              <a:t>📊  Real-time event streaming with 2-second polling</a:t>
            </a:r>
          </a:p>
        </p:txBody>
      </p:sp>
      <p:sp>
        <p:nvSpPr>
          <p:cNvPr id="49" name="TextBox 48"/>
          <p:cNvSpPr txBox="1"/>
          <p:nvPr/>
        </p:nvSpPr>
        <p:spPr>
          <a:xfrm>
            <a:off x="6126480" y="5120640"/>
            <a:ext cx="5029200" cy="365760"/>
          </a:xfrm>
          <a:prstGeom prst="rect">
            <a:avLst/>
          </a:prstGeom>
          <a:noFill/>
        </p:spPr>
        <p:txBody>
          <a:bodyPr wrap="square"/>
          <a:lstStyle/>
          <a:p>
            <a:pPr algn="l">
              <a:spcBef>
                <a:spcPts val="0"/>
              </a:spcBef>
              <a:spcAft>
                <a:spcPts val="0"/>
              </a:spcAft>
              <a:defRPr sz="1500" b="0">
                <a:solidFill>
                  <a:srgbClr val="334255"/>
                </a:solidFill>
                <a:latin typeface="Calibri"/>
              </a:defRPr>
            </a:pPr>
            <a:r>
              <a:t>🔗  Identity resolution with deterministic &amp; probabilistic matching</a:t>
            </a:r>
          </a:p>
        </p:txBody>
      </p:sp>
      <p:sp>
        <p:nvSpPr>
          <p:cNvPr id="50" name="TextBox 49"/>
          <p:cNvSpPr txBox="1"/>
          <p:nvPr/>
        </p:nvSpPr>
        <p:spPr>
          <a:xfrm>
            <a:off x="640080" y="5532120"/>
            <a:ext cx="5029200" cy="365760"/>
          </a:xfrm>
          <a:prstGeom prst="rect">
            <a:avLst/>
          </a:prstGeom>
          <a:noFill/>
        </p:spPr>
        <p:txBody>
          <a:bodyPr wrap="square"/>
          <a:lstStyle/>
          <a:p>
            <a:pPr algn="l">
              <a:spcBef>
                <a:spcPts val="0"/>
              </a:spcBef>
              <a:spcAft>
                <a:spcPts val="0"/>
              </a:spcAft>
              <a:defRPr sz="1500" b="0">
                <a:solidFill>
                  <a:srgbClr val="334255"/>
                </a:solidFill>
                <a:latin typeface="Calibri"/>
              </a:defRPr>
            </a:pPr>
            <a:r>
              <a:t>🧠  Local LLM (Ollama) for privacy-preserving intent profiling</a:t>
            </a:r>
          </a:p>
        </p:txBody>
      </p:sp>
      <p:sp>
        <p:nvSpPr>
          <p:cNvPr id="51" name="TextBox 50"/>
          <p:cNvSpPr txBox="1"/>
          <p:nvPr/>
        </p:nvSpPr>
        <p:spPr>
          <a:xfrm>
            <a:off x="6126480" y="5532120"/>
            <a:ext cx="5029200" cy="365760"/>
          </a:xfrm>
          <a:prstGeom prst="rect">
            <a:avLst/>
          </a:prstGeom>
          <a:noFill/>
        </p:spPr>
        <p:txBody>
          <a:bodyPr wrap="square"/>
          <a:lstStyle/>
          <a:p>
            <a:pPr algn="l">
              <a:spcBef>
                <a:spcPts val="0"/>
              </a:spcBef>
              <a:spcAft>
                <a:spcPts val="0"/>
              </a:spcAft>
              <a:defRPr sz="1500" b="0">
                <a:solidFill>
                  <a:srgbClr val="334255"/>
                </a:solidFill>
                <a:latin typeface="Calibri"/>
              </a:defRPr>
            </a:pPr>
            <a:r>
              <a:t>🎯  Vector search (Qdrant) for semantic product recommendations</a:t>
            </a:r>
          </a:p>
        </p:txBody>
      </p:sp>
      <p:sp>
        <p:nvSpPr>
          <p:cNvPr id="52" name="TextBox 51"/>
          <p:cNvSpPr txBox="1"/>
          <p:nvPr/>
        </p:nvSpPr>
        <p:spPr>
          <a:xfrm>
            <a:off x="640080" y="5943600"/>
            <a:ext cx="5029200" cy="365760"/>
          </a:xfrm>
          <a:prstGeom prst="rect">
            <a:avLst/>
          </a:prstGeom>
          <a:noFill/>
        </p:spPr>
        <p:txBody>
          <a:bodyPr wrap="square"/>
          <a:lstStyle/>
          <a:p>
            <a:pPr algn="l">
              <a:spcBef>
                <a:spcPts val="0"/>
              </a:spcBef>
              <a:spcAft>
                <a:spcPts val="0"/>
              </a:spcAft>
              <a:defRPr sz="1500" b="0">
                <a:solidFill>
                  <a:srgbClr val="334255"/>
                </a:solidFill>
                <a:latin typeface="Calibri"/>
              </a:defRPr>
            </a:pPr>
            <a:r>
              <a:t>📣  AI-generated ad creatives with one-click regeneration</a:t>
            </a:r>
          </a:p>
        </p:txBody>
      </p:sp>
      <p:sp>
        <p:nvSpPr>
          <p:cNvPr id="53" name="TextBox 52"/>
          <p:cNvSpPr txBox="1"/>
          <p:nvPr/>
        </p:nvSpPr>
        <p:spPr>
          <a:xfrm>
            <a:off x="6126480" y="5943600"/>
            <a:ext cx="5029200" cy="365760"/>
          </a:xfrm>
          <a:prstGeom prst="rect">
            <a:avLst/>
          </a:prstGeom>
          <a:noFill/>
        </p:spPr>
        <p:txBody>
          <a:bodyPr wrap="square"/>
          <a:lstStyle/>
          <a:p>
            <a:pPr algn="l">
              <a:spcBef>
                <a:spcPts val="0"/>
              </a:spcBef>
              <a:spcAft>
                <a:spcPts val="0"/>
              </a:spcAft>
              <a:defRPr sz="1500" b="0">
                <a:solidFill>
                  <a:srgbClr val="334255"/>
                </a:solidFill>
                <a:latin typeface="Calibri"/>
              </a:defRPr>
            </a:pPr>
            <a:r>
              <a:t>📈  Analytics dashboard with F1 scores, precision, recall metrics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640080"/>
          </a:xfrm>
          <a:prstGeom prst="rect">
            <a:avLst/>
          </a:prstGeom>
          <a:noFill/>
        </p:spPr>
        <p:txBody>
          <a:bodyPr wrap="square"/>
          <a:lstStyle/>
          <a:p>
            <a:pPr algn="l">
              <a:spcBef>
                <a:spcPts val="0"/>
              </a:spcBef>
              <a:spcAft>
                <a:spcPts val="0"/>
              </a:spcAft>
              <a:defRPr sz="3600" b="1">
                <a:solidFill>
                  <a:srgbClr val="0F172A"/>
                </a:solidFill>
                <a:latin typeface="Calibri"/>
              </a:defRPr>
            </a:pPr>
            <a:r>
              <a:t>AI Capabilities</a:t>
            </a:r>
          </a:p>
        </p:txBody>
      </p:sp>
      <p:sp>
        <p:nvSpPr>
          <p:cNvPr id="4" name="TextBox 3"/>
          <p:cNvSpPr txBox="1"/>
          <p:nvPr/>
        </p:nvSpPr>
        <p:spPr>
          <a:xfrm>
            <a:off x="640080" y="914400"/>
            <a:ext cx="10058400" cy="365760"/>
          </a:xfrm>
          <a:prstGeom prst="rect">
            <a:avLst/>
          </a:prstGeom>
          <a:noFill/>
        </p:spPr>
        <p:txBody>
          <a:bodyPr wrap="square"/>
          <a:lstStyle/>
          <a:p>
            <a:pPr algn="l">
              <a:spcBef>
                <a:spcPts val="0"/>
              </a:spcBef>
              <a:spcAft>
                <a:spcPts val="0"/>
              </a:spcAft>
              <a:defRPr sz="2200" b="0">
                <a:solidFill>
                  <a:srgbClr val="64748B"/>
                </a:solidFill>
                <a:latin typeface="Calibri"/>
              </a:defRPr>
            </a:pPr>
            <a:r>
              <a:t>Five AI systems working together to deliver intelligent personalization</a:t>
            </a:r>
          </a:p>
        </p:txBody>
      </p:sp>
      <p:sp>
        <p:nvSpPr>
          <p:cNvPr id="5" name="Rounded Rectangle 4"/>
          <p:cNvSpPr/>
          <p:nvPr/>
        </p:nvSpPr>
        <p:spPr>
          <a:xfrm>
            <a:off x="457200" y="1463040"/>
            <a:ext cx="2148840" cy="2743200"/>
          </a:xfrm>
          <a:prstGeom prst="roundRect">
            <a:avLst/>
          </a:prstGeom>
          <a:solidFill>
            <a:srgbClr val="EEF2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57200" y="1463040"/>
            <a:ext cx="2148840"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691640"/>
            <a:ext cx="2148840" cy="457200"/>
          </a:xfrm>
          <a:prstGeom prst="rect">
            <a:avLst/>
          </a:prstGeom>
          <a:noFill/>
        </p:spPr>
        <p:txBody>
          <a:bodyPr wrap="square"/>
          <a:lstStyle/>
          <a:p>
            <a:pPr algn="ctr">
              <a:spcBef>
                <a:spcPts val="0"/>
              </a:spcBef>
              <a:spcAft>
                <a:spcPts val="0"/>
              </a:spcAft>
              <a:defRPr sz="3200" b="0">
                <a:solidFill>
                  <a:srgbClr val="0F172A"/>
                </a:solidFill>
                <a:latin typeface="Calibri"/>
              </a:defRPr>
            </a:pPr>
            <a:r>
              <a:t>🎯</a:t>
            </a:r>
          </a:p>
        </p:txBody>
      </p:sp>
      <p:sp>
        <p:nvSpPr>
          <p:cNvPr id="8" name="TextBox 7"/>
          <p:cNvSpPr txBox="1"/>
          <p:nvPr/>
        </p:nvSpPr>
        <p:spPr>
          <a:xfrm>
            <a:off x="594360" y="2194560"/>
            <a:ext cx="1874520" cy="640080"/>
          </a:xfrm>
          <a:prstGeom prst="rect">
            <a:avLst/>
          </a:prstGeom>
          <a:noFill/>
        </p:spPr>
        <p:txBody>
          <a:bodyPr wrap="square"/>
          <a:lstStyle/>
          <a:p>
            <a:pPr algn="ctr">
              <a:spcBef>
                <a:spcPts val="0"/>
              </a:spcBef>
              <a:spcAft>
                <a:spcPts val="0"/>
              </a:spcAft>
              <a:defRPr sz="1600" b="1">
                <a:solidFill>
                  <a:srgbClr val="0F172A"/>
                </a:solidFill>
                <a:latin typeface="Calibri"/>
              </a:defRPr>
            </a:pPr>
            <a:r>
              <a:t>Deterministic</a:t>
            </a:r>
            <a:br/>
            <a:r>
              <a:t>Matching</a:t>
            </a:r>
          </a:p>
        </p:txBody>
      </p:sp>
      <p:sp>
        <p:nvSpPr>
          <p:cNvPr id="9" name="TextBox 8"/>
          <p:cNvSpPr txBox="1"/>
          <p:nvPr/>
        </p:nvSpPr>
        <p:spPr>
          <a:xfrm>
            <a:off x="594360" y="2926080"/>
            <a:ext cx="1874520" cy="914400"/>
          </a:xfrm>
          <a:prstGeom prst="rect">
            <a:avLst/>
          </a:prstGeom>
          <a:noFill/>
        </p:spPr>
        <p:txBody>
          <a:bodyPr wrap="square"/>
          <a:lstStyle/>
          <a:p>
            <a:pPr algn="ctr">
              <a:spcBef>
                <a:spcPts val="0"/>
              </a:spcBef>
              <a:spcAft>
                <a:spcPts val="0"/>
              </a:spcAft>
              <a:defRPr sz="1300" b="0">
                <a:solidFill>
                  <a:srgbClr val="64748B"/>
                </a:solidFill>
                <a:latin typeface="Calibri"/>
              </a:defRPr>
            </a:pPr>
            <a:r>
              <a:t>Rule-based identity</a:t>
            </a:r>
            <a:br/>
            <a:r>
              <a:t>linking using hashed</a:t>
            </a:r>
            <a:br/>
            <a:r>
              <a:t>email, device ID, session</a:t>
            </a:r>
          </a:p>
        </p:txBody>
      </p:sp>
      <p:sp>
        <p:nvSpPr>
          <p:cNvPr id="10" name="Right Arrow 9"/>
          <p:cNvSpPr/>
          <p:nvPr/>
        </p:nvSpPr>
        <p:spPr>
          <a:xfrm>
            <a:off x="2624328" y="2743200"/>
            <a:ext cx="91440" cy="201168"/>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743200" y="1463040"/>
            <a:ext cx="2148840" cy="2743200"/>
          </a:xfrm>
          <a:prstGeom prst="roundRect">
            <a:avLst/>
          </a:prstGeom>
          <a:solidFill>
            <a:srgbClr val="F5F3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743200" y="1463040"/>
            <a:ext cx="2148840" cy="54864"/>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43200" y="1691640"/>
            <a:ext cx="2148840" cy="457200"/>
          </a:xfrm>
          <a:prstGeom prst="rect">
            <a:avLst/>
          </a:prstGeom>
          <a:noFill/>
        </p:spPr>
        <p:txBody>
          <a:bodyPr wrap="square"/>
          <a:lstStyle/>
          <a:p>
            <a:pPr algn="ctr">
              <a:spcBef>
                <a:spcPts val="0"/>
              </a:spcBef>
              <a:spcAft>
                <a:spcPts val="0"/>
              </a:spcAft>
              <a:defRPr sz="3200" b="0">
                <a:solidFill>
                  <a:srgbClr val="0F172A"/>
                </a:solidFill>
                <a:latin typeface="Calibri"/>
              </a:defRPr>
            </a:pPr>
            <a:r>
              <a:t>🔀</a:t>
            </a:r>
          </a:p>
        </p:txBody>
      </p:sp>
      <p:sp>
        <p:nvSpPr>
          <p:cNvPr id="14" name="TextBox 13"/>
          <p:cNvSpPr txBox="1"/>
          <p:nvPr/>
        </p:nvSpPr>
        <p:spPr>
          <a:xfrm>
            <a:off x="2880360" y="2194560"/>
            <a:ext cx="1874520" cy="640080"/>
          </a:xfrm>
          <a:prstGeom prst="rect">
            <a:avLst/>
          </a:prstGeom>
          <a:noFill/>
        </p:spPr>
        <p:txBody>
          <a:bodyPr wrap="square"/>
          <a:lstStyle/>
          <a:p>
            <a:pPr algn="ctr">
              <a:spcBef>
                <a:spcPts val="0"/>
              </a:spcBef>
              <a:spcAft>
                <a:spcPts val="0"/>
              </a:spcAft>
              <a:defRPr sz="1600" b="1">
                <a:solidFill>
                  <a:srgbClr val="0F172A"/>
                </a:solidFill>
                <a:latin typeface="Calibri"/>
              </a:defRPr>
            </a:pPr>
            <a:r>
              <a:t>Probabilistic</a:t>
            </a:r>
            <a:br/>
            <a:r>
              <a:t>Matching</a:t>
            </a:r>
          </a:p>
        </p:txBody>
      </p:sp>
      <p:sp>
        <p:nvSpPr>
          <p:cNvPr id="15" name="TextBox 14"/>
          <p:cNvSpPr txBox="1"/>
          <p:nvPr/>
        </p:nvSpPr>
        <p:spPr>
          <a:xfrm>
            <a:off x="2880360" y="2926080"/>
            <a:ext cx="1874520" cy="914400"/>
          </a:xfrm>
          <a:prstGeom prst="rect">
            <a:avLst/>
          </a:prstGeom>
          <a:noFill/>
        </p:spPr>
        <p:txBody>
          <a:bodyPr wrap="square"/>
          <a:lstStyle/>
          <a:p>
            <a:pPr algn="ctr">
              <a:spcBef>
                <a:spcPts val="0"/>
              </a:spcBef>
              <a:spcAft>
                <a:spcPts val="0"/>
              </a:spcAft>
              <a:defRPr sz="1300" b="0">
                <a:solidFill>
                  <a:srgbClr val="64748B"/>
                </a:solidFill>
                <a:latin typeface="Calibri"/>
              </a:defRPr>
            </a:pPr>
            <a:r>
              <a:t>ML-based similarity</a:t>
            </a:r>
            <a:br/>
            <a:r>
              <a:t>scoring across device</a:t>
            </a:r>
            <a:br/>
            <a:r>
              <a:t>fingerprints &amp; behavior</a:t>
            </a:r>
          </a:p>
        </p:txBody>
      </p:sp>
      <p:sp>
        <p:nvSpPr>
          <p:cNvPr id="16" name="Right Arrow 15"/>
          <p:cNvSpPr/>
          <p:nvPr/>
        </p:nvSpPr>
        <p:spPr>
          <a:xfrm>
            <a:off x="4910328" y="2743200"/>
            <a:ext cx="91440" cy="201168"/>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029200" y="1463040"/>
            <a:ext cx="2148840" cy="274320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029200" y="1463040"/>
            <a:ext cx="2148840"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0" y="1691640"/>
            <a:ext cx="2148840" cy="457200"/>
          </a:xfrm>
          <a:prstGeom prst="rect">
            <a:avLst/>
          </a:prstGeom>
          <a:noFill/>
        </p:spPr>
        <p:txBody>
          <a:bodyPr wrap="square"/>
          <a:lstStyle/>
          <a:p>
            <a:pPr algn="ctr">
              <a:spcBef>
                <a:spcPts val="0"/>
              </a:spcBef>
              <a:spcAft>
                <a:spcPts val="0"/>
              </a:spcAft>
              <a:defRPr sz="3200" b="0">
                <a:solidFill>
                  <a:srgbClr val="0F172A"/>
                </a:solidFill>
                <a:latin typeface="Calibri"/>
              </a:defRPr>
            </a:pPr>
            <a:r>
              <a:t>🧠</a:t>
            </a:r>
          </a:p>
        </p:txBody>
      </p:sp>
      <p:sp>
        <p:nvSpPr>
          <p:cNvPr id="20" name="TextBox 19"/>
          <p:cNvSpPr txBox="1"/>
          <p:nvPr/>
        </p:nvSpPr>
        <p:spPr>
          <a:xfrm>
            <a:off x="5166360" y="2194560"/>
            <a:ext cx="1874520" cy="640080"/>
          </a:xfrm>
          <a:prstGeom prst="rect">
            <a:avLst/>
          </a:prstGeom>
          <a:noFill/>
        </p:spPr>
        <p:txBody>
          <a:bodyPr wrap="square"/>
          <a:lstStyle/>
          <a:p>
            <a:pPr algn="ctr">
              <a:spcBef>
                <a:spcPts val="0"/>
              </a:spcBef>
              <a:spcAft>
                <a:spcPts val="0"/>
              </a:spcAft>
              <a:defRPr sz="1600" b="1">
                <a:solidFill>
                  <a:srgbClr val="0F172A"/>
                </a:solidFill>
                <a:latin typeface="Calibri"/>
              </a:defRPr>
            </a:pPr>
            <a:r>
              <a:t>Intent Profiling</a:t>
            </a:r>
            <a:br/>
            <a:r>
              <a:t>(Ollama)</a:t>
            </a:r>
          </a:p>
        </p:txBody>
      </p:sp>
      <p:sp>
        <p:nvSpPr>
          <p:cNvPr id="21" name="TextBox 20"/>
          <p:cNvSpPr txBox="1"/>
          <p:nvPr/>
        </p:nvSpPr>
        <p:spPr>
          <a:xfrm>
            <a:off x="5166360" y="2926080"/>
            <a:ext cx="1874520" cy="914400"/>
          </a:xfrm>
          <a:prstGeom prst="rect">
            <a:avLst/>
          </a:prstGeom>
          <a:noFill/>
        </p:spPr>
        <p:txBody>
          <a:bodyPr wrap="square"/>
          <a:lstStyle/>
          <a:p>
            <a:pPr algn="ctr">
              <a:spcBef>
                <a:spcPts val="0"/>
              </a:spcBef>
              <a:spcAft>
                <a:spcPts val="0"/>
              </a:spcAft>
              <a:defRPr sz="1300" b="0">
                <a:solidFill>
                  <a:srgbClr val="64748B"/>
                </a:solidFill>
                <a:latin typeface="Calibri"/>
              </a:defRPr>
            </a:pPr>
            <a:r>
              <a:t>Local LLM analyzes</a:t>
            </a:r>
            <a:br/>
            <a:r>
              <a:t>purchase patterns &amp;</a:t>
            </a:r>
            <a:br/>
            <a:r>
              <a:t>behavior for intent</a:t>
            </a:r>
          </a:p>
        </p:txBody>
      </p:sp>
      <p:sp>
        <p:nvSpPr>
          <p:cNvPr id="22" name="Right Arrow 21"/>
          <p:cNvSpPr/>
          <p:nvPr/>
        </p:nvSpPr>
        <p:spPr>
          <a:xfrm>
            <a:off x="7196328" y="2743200"/>
            <a:ext cx="91440" cy="201168"/>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315200" y="1463040"/>
            <a:ext cx="2148840" cy="274320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7315200" y="1463040"/>
            <a:ext cx="2148840" cy="5486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0" y="1691640"/>
            <a:ext cx="2148840" cy="457200"/>
          </a:xfrm>
          <a:prstGeom prst="rect">
            <a:avLst/>
          </a:prstGeom>
          <a:noFill/>
        </p:spPr>
        <p:txBody>
          <a:bodyPr wrap="square"/>
          <a:lstStyle/>
          <a:p>
            <a:pPr algn="ctr">
              <a:spcBef>
                <a:spcPts val="0"/>
              </a:spcBef>
              <a:spcAft>
                <a:spcPts val="0"/>
              </a:spcAft>
              <a:defRPr sz="3200" b="0">
                <a:solidFill>
                  <a:srgbClr val="0F172A"/>
                </a:solidFill>
                <a:latin typeface="Calibri"/>
              </a:defRPr>
            </a:pPr>
            <a:r>
              <a:t>🎯</a:t>
            </a:r>
          </a:p>
        </p:txBody>
      </p:sp>
      <p:sp>
        <p:nvSpPr>
          <p:cNvPr id="26" name="TextBox 25"/>
          <p:cNvSpPr txBox="1"/>
          <p:nvPr/>
        </p:nvSpPr>
        <p:spPr>
          <a:xfrm>
            <a:off x="7452360" y="2194560"/>
            <a:ext cx="1874520" cy="640080"/>
          </a:xfrm>
          <a:prstGeom prst="rect">
            <a:avLst/>
          </a:prstGeom>
          <a:noFill/>
        </p:spPr>
        <p:txBody>
          <a:bodyPr wrap="square"/>
          <a:lstStyle/>
          <a:p>
            <a:pPr algn="ctr">
              <a:spcBef>
                <a:spcPts val="0"/>
              </a:spcBef>
              <a:spcAft>
                <a:spcPts val="0"/>
              </a:spcAft>
              <a:defRPr sz="1600" b="1">
                <a:solidFill>
                  <a:srgbClr val="0F172A"/>
                </a:solidFill>
                <a:latin typeface="Calibri"/>
              </a:defRPr>
            </a:pPr>
            <a:r>
              <a:t>Vector Search</a:t>
            </a:r>
            <a:br/>
            <a:r>
              <a:t>(Qdrant)</a:t>
            </a:r>
          </a:p>
        </p:txBody>
      </p:sp>
      <p:sp>
        <p:nvSpPr>
          <p:cNvPr id="27" name="TextBox 26"/>
          <p:cNvSpPr txBox="1"/>
          <p:nvPr/>
        </p:nvSpPr>
        <p:spPr>
          <a:xfrm>
            <a:off x="7452360" y="2926080"/>
            <a:ext cx="1874520" cy="914400"/>
          </a:xfrm>
          <a:prstGeom prst="rect">
            <a:avLst/>
          </a:prstGeom>
          <a:noFill/>
        </p:spPr>
        <p:txBody>
          <a:bodyPr wrap="square"/>
          <a:lstStyle/>
          <a:p>
            <a:pPr algn="ctr">
              <a:spcBef>
                <a:spcPts val="0"/>
              </a:spcBef>
              <a:spcAft>
                <a:spcPts val="0"/>
              </a:spcAft>
              <a:defRPr sz="1300" b="0">
                <a:solidFill>
                  <a:srgbClr val="64748B"/>
                </a:solidFill>
                <a:latin typeface="Calibri"/>
              </a:defRPr>
            </a:pPr>
            <a:r>
              <a:t>Semantic product</a:t>
            </a:r>
            <a:br/>
            <a:r>
              <a:t>search using vector</a:t>
            </a:r>
            <a:br/>
            <a:r>
              <a:t>embeddings &amp; similarity</a:t>
            </a:r>
          </a:p>
        </p:txBody>
      </p:sp>
      <p:sp>
        <p:nvSpPr>
          <p:cNvPr id="28" name="Right Arrow 27"/>
          <p:cNvSpPr/>
          <p:nvPr/>
        </p:nvSpPr>
        <p:spPr>
          <a:xfrm>
            <a:off x="9482328" y="2743200"/>
            <a:ext cx="91440" cy="201168"/>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9601200" y="1463040"/>
            <a:ext cx="2148840" cy="274320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9601200" y="1463040"/>
            <a:ext cx="2148840" cy="54864"/>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601200" y="1691640"/>
            <a:ext cx="2148840" cy="457200"/>
          </a:xfrm>
          <a:prstGeom prst="rect">
            <a:avLst/>
          </a:prstGeom>
          <a:noFill/>
        </p:spPr>
        <p:txBody>
          <a:bodyPr wrap="square"/>
          <a:lstStyle/>
          <a:p>
            <a:pPr algn="ctr">
              <a:spcBef>
                <a:spcPts val="0"/>
              </a:spcBef>
              <a:spcAft>
                <a:spcPts val="0"/>
              </a:spcAft>
              <a:defRPr sz="3200" b="0">
                <a:solidFill>
                  <a:srgbClr val="0F172A"/>
                </a:solidFill>
                <a:latin typeface="Calibri"/>
              </a:defRPr>
            </a:pPr>
            <a:r>
              <a:t>📣</a:t>
            </a:r>
          </a:p>
        </p:txBody>
      </p:sp>
      <p:sp>
        <p:nvSpPr>
          <p:cNvPr id="32" name="TextBox 31"/>
          <p:cNvSpPr txBox="1"/>
          <p:nvPr/>
        </p:nvSpPr>
        <p:spPr>
          <a:xfrm>
            <a:off x="9738360" y="2194560"/>
            <a:ext cx="1874520" cy="640080"/>
          </a:xfrm>
          <a:prstGeom prst="rect">
            <a:avLst/>
          </a:prstGeom>
          <a:noFill/>
        </p:spPr>
        <p:txBody>
          <a:bodyPr wrap="square"/>
          <a:lstStyle/>
          <a:p>
            <a:pPr algn="ctr">
              <a:spcBef>
                <a:spcPts val="0"/>
              </a:spcBef>
              <a:spcAft>
                <a:spcPts val="0"/>
              </a:spcAft>
              <a:defRPr sz="1600" b="1">
                <a:solidFill>
                  <a:srgbClr val="0F172A"/>
                </a:solidFill>
                <a:latin typeface="Calibri"/>
              </a:defRPr>
            </a:pPr>
            <a:r>
              <a:t>Personalized Ad</a:t>
            </a:r>
            <a:br/>
            <a:r>
              <a:t>Generation</a:t>
            </a:r>
          </a:p>
        </p:txBody>
      </p:sp>
      <p:sp>
        <p:nvSpPr>
          <p:cNvPr id="33" name="TextBox 32"/>
          <p:cNvSpPr txBox="1"/>
          <p:nvPr/>
        </p:nvSpPr>
        <p:spPr>
          <a:xfrm>
            <a:off x="9738360" y="2926080"/>
            <a:ext cx="1874520" cy="914400"/>
          </a:xfrm>
          <a:prstGeom prst="rect">
            <a:avLst/>
          </a:prstGeom>
          <a:noFill/>
        </p:spPr>
        <p:txBody>
          <a:bodyPr wrap="square"/>
          <a:lstStyle/>
          <a:p>
            <a:pPr algn="ctr">
              <a:spcBef>
                <a:spcPts val="0"/>
              </a:spcBef>
              <a:spcAft>
                <a:spcPts val="0"/>
              </a:spcAft>
              <a:defRPr sz="1300" b="0">
                <a:solidFill>
                  <a:srgbClr val="64748B"/>
                </a:solidFill>
                <a:latin typeface="Calibri"/>
              </a:defRPr>
            </a:pPr>
            <a:r>
              <a:t>Agentic pipeline creates</a:t>
            </a:r>
            <a:br/>
            <a:r>
              <a:t>tailored ad copy</a:t>
            </a:r>
            <a:br/>
            <a:r>
              <a:t>headlines &amp; CTAs</a:t>
            </a:r>
          </a:p>
        </p:txBody>
      </p:sp>
      <p:sp>
        <p:nvSpPr>
          <p:cNvPr id="34" name="Rounded Rectangle 33"/>
          <p:cNvSpPr/>
          <p:nvPr/>
        </p:nvSpPr>
        <p:spPr>
          <a:xfrm>
            <a:off x="457200" y="4572000"/>
            <a:ext cx="11247120" cy="3657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0080" y="4846320"/>
            <a:ext cx="10058400" cy="457200"/>
          </a:xfrm>
          <a:prstGeom prst="rect">
            <a:avLst/>
          </a:prstGeom>
          <a:noFill/>
        </p:spPr>
        <p:txBody>
          <a:bodyPr wrap="square"/>
          <a:lstStyle/>
          <a:p>
            <a:pPr algn="l">
              <a:spcBef>
                <a:spcPts val="0"/>
              </a:spcBef>
              <a:spcAft>
                <a:spcPts val="0"/>
              </a:spcAft>
              <a:defRPr sz="2200" b="1">
                <a:solidFill>
                  <a:srgbClr val="0F172A"/>
                </a:solidFill>
                <a:latin typeface="Calibri"/>
              </a:defRPr>
            </a:pPr>
            <a:r>
              <a:t>Architecture Highlights</a:t>
            </a:r>
          </a:p>
        </p:txBody>
      </p:sp>
      <p:sp>
        <p:nvSpPr>
          <p:cNvPr id="36" name="TextBox 35"/>
          <p:cNvSpPr txBox="1"/>
          <p:nvPr/>
        </p:nvSpPr>
        <p:spPr>
          <a:xfrm>
            <a:off x="640080" y="5394960"/>
            <a:ext cx="365760" cy="365760"/>
          </a:xfrm>
          <a:prstGeom prst="rect">
            <a:avLst/>
          </a:prstGeom>
          <a:noFill/>
        </p:spPr>
        <p:txBody>
          <a:bodyPr wrap="square"/>
          <a:lstStyle/>
          <a:p>
            <a:pPr algn="l">
              <a:spcBef>
                <a:spcPts val="0"/>
              </a:spcBef>
              <a:spcAft>
                <a:spcPts val="0"/>
              </a:spcAft>
              <a:defRPr sz="2200" b="0">
                <a:solidFill>
                  <a:srgbClr val="0F172A"/>
                </a:solidFill>
                <a:latin typeface="Calibri"/>
              </a:defRPr>
            </a:pPr>
            <a:r>
              <a:t>🔒</a:t>
            </a:r>
          </a:p>
        </p:txBody>
      </p:sp>
      <p:sp>
        <p:nvSpPr>
          <p:cNvPr id="37" name="TextBox 36"/>
          <p:cNvSpPr txBox="1"/>
          <p:nvPr/>
        </p:nvSpPr>
        <p:spPr>
          <a:xfrm>
            <a:off x="1097280" y="5394960"/>
            <a:ext cx="2103120" cy="365760"/>
          </a:xfrm>
          <a:prstGeom prst="rect">
            <a:avLst/>
          </a:prstGeom>
          <a:noFill/>
        </p:spPr>
        <p:txBody>
          <a:bodyPr wrap="square"/>
          <a:lstStyle/>
          <a:p>
            <a:pPr algn="l">
              <a:spcBef>
                <a:spcPts val="0"/>
              </a:spcBef>
              <a:spcAft>
                <a:spcPts val="0"/>
              </a:spcAft>
              <a:defRPr sz="1800" b="1">
                <a:solidFill>
                  <a:srgbClr val="0F172A"/>
                </a:solidFill>
                <a:latin typeface="Calibri"/>
              </a:defRPr>
            </a:pPr>
            <a:r>
              <a:t>Local AI</a:t>
            </a:r>
          </a:p>
        </p:txBody>
      </p:sp>
      <p:sp>
        <p:nvSpPr>
          <p:cNvPr id="38" name="TextBox 37"/>
          <p:cNvSpPr txBox="1"/>
          <p:nvPr/>
        </p:nvSpPr>
        <p:spPr>
          <a:xfrm>
            <a:off x="1097280" y="5760720"/>
            <a:ext cx="2103120" cy="457200"/>
          </a:xfrm>
          <a:prstGeom prst="rect">
            <a:avLst/>
          </a:prstGeom>
          <a:noFill/>
        </p:spPr>
        <p:txBody>
          <a:bodyPr wrap="square"/>
          <a:lstStyle/>
          <a:p>
            <a:pPr algn="l">
              <a:spcBef>
                <a:spcPts val="0"/>
              </a:spcBef>
              <a:spcAft>
                <a:spcPts val="0"/>
              </a:spcAft>
              <a:defRPr sz="1300" b="0">
                <a:solidFill>
                  <a:srgbClr val="64748B"/>
                </a:solidFill>
                <a:latin typeface="Calibri"/>
              </a:defRPr>
            </a:pPr>
            <a:r>
              <a:t>All models run locally via Ollama</a:t>
            </a:r>
            <a:br/>
            <a:r>
              <a:t>— zero third-party API calls</a:t>
            </a:r>
          </a:p>
        </p:txBody>
      </p:sp>
      <p:sp>
        <p:nvSpPr>
          <p:cNvPr id="39" name="TextBox 38"/>
          <p:cNvSpPr txBox="1"/>
          <p:nvPr/>
        </p:nvSpPr>
        <p:spPr>
          <a:xfrm>
            <a:off x="3429000" y="5394960"/>
            <a:ext cx="365760" cy="365760"/>
          </a:xfrm>
          <a:prstGeom prst="rect">
            <a:avLst/>
          </a:prstGeom>
          <a:noFill/>
        </p:spPr>
        <p:txBody>
          <a:bodyPr wrap="square"/>
          <a:lstStyle/>
          <a:p>
            <a:pPr algn="l">
              <a:spcBef>
                <a:spcPts val="0"/>
              </a:spcBef>
              <a:spcAft>
                <a:spcPts val="0"/>
              </a:spcAft>
              <a:defRPr sz="2200" b="0">
                <a:solidFill>
                  <a:srgbClr val="0F172A"/>
                </a:solidFill>
                <a:latin typeface="Calibri"/>
              </a:defRPr>
            </a:pPr>
            <a:r>
              <a:t>⚡</a:t>
            </a:r>
          </a:p>
        </p:txBody>
      </p:sp>
      <p:sp>
        <p:nvSpPr>
          <p:cNvPr id="40" name="TextBox 39"/>
          <p:cNvSpPr txBox="1"/>
          <p:nvPr/>
        </p:nvSpPr>
        <p:spPr>
          <a:xfrm>
            <a:off x="3886200" y="5394960"/>
            <a:ext cx="2103120" cy="365760"/>
          </a:xfrm>
          <a:prstGeom prst="rect">
            <a:avLst/>
          </a:prstGeom>
          <a:noFill/>
        </p:spPr>
        <p:txBody>
          <a:bodyPr wrap="square"/>
          <a:lstStyle/>
          <a:p>
            <a:pPr algn="l">
              <a:spcBef>
                <a:spcPts val="0"/>
              </a:spcBef>
              <a:spcAft>
                <a:spcPts val="0"/>
              </a:spcAft>
              <a:defRPr sz="1800" b="1">
                <a:solidFill>
                  <a:srgbClr val="0F172A"/>
                </a:solidFill>
                <a:latin typeface="Calibri"/>
              </a:defRPr>
            </a:pPr>
            <a:r>
              <a:t>Event-Driven</a:t>
            </a:r>
          </a:p>
        </p:txBody>
      </p:sp>
      <p:sp>
        <p:nvSpPr>
          <p:cNvPr id="41" name="TextBox 40"/>
          <p:cNvSpPr txBox="1"/>
          <p:nvPr/>
        </p:nvSpPr>
        <p:spPr>
          <a:xfrm>
            <a:off x="3886200" y="5760720"/>
            <a:ext cx="2103120" cy="457200"/>
          </a:xfrm>
          <a:prstGeom prst="rect">
            <a:avLst/>
          </a:prstGeom>
          <a:noFill/>
        </p:spPr>
        <p:txBody>
          <a:bodyPr wrap="square"/>
          <a:lstStyle/>
          <a:p>
            <a:pPr algn="l">
              <a:spcBef>
                <a:spcPts val="0"/>
              </a:spcBef>
              <a:spcAft>
                <a:spcPts val="0"/>
              </a:spcAft>
              <a:defRPr sz="1300" b="0">
                <a:solidFill>
                  <a:srgbClr val="64748B"/>
                </a:solidFill>
                <a:latin typeface="Calibri"/>
              </a:defRPr>
            </a:pPr>
            <a:r>
              <a:t>Async processing pipeline</a:t>
            </a:r>
            <a:br/>
            <a:r>
              <a:t>with Kafka message broker</a:t>
            </a:r>
          </a:p>
        </p:txBody>
      </p:sp>
      <p:sp>
        <p:nvSpPr>
          <p:cNvPr id="42" name="TextBox 41"/>
          <p:cNvSpPr txBox="1"/>
          <p:nvPr/>
        </p:nvSpPr>
        <p:spPr>
          <a:xfrm>
            <a:off x="6217920" y="5394960"/>
            <a:ext cx="365760" cy="365760"/>
          </a:xfrm>
          <a:prstGeom prst="rect">
            <a:avLst/>
          </a:prstGeom>
          <a:noFill/>
        </p:spPr>
        <p:txBody>
          <a:bodyPr wrap="square"/>
          <a:lstStyle/>
          <a:p>
            <a:pPr algn="l">
              <a:spcBef>
                <a:spcPts val="0"/>
              </a:spcBef>
              <a:spcAft>
                <a:spcPts val="0"/>
              </a:spcAft>
              <a:defRPr sz="2200" b="0">
                <a:solidFill>
                  <a:srgbClr val="0F172A"/>
                </a:solidFill>
                <a:latin typeface="Calibri"/>
              </a:defRPr>
            </a:pPr>
            <a:r>
              <a:t>📈</a:t>
            </a:r>
          </a:p>
        </p:txBody>
      </p:sp>
      <p:sp>
        <p:nvSpPr>
          <p:cNvPr id="43" name="TextBox 42"/>
          <p:cNvSpPr txBox="1"/>
          <p:nvPr/>
        </p:nvSpPr>
        <p:spPr>
          <a:xfrm>
            <a:off x="6675120" y="5394960"/>
            <a:ext cx="2103120" cy="365760"/>
          </a:xfrm>
          <a:prstGeom prst="rect">
            <a:avLst/>
          </a:prstGeom>
          <a:noFill/>
        </p:spPr>
        <p:txBody>
          <a:bodyPr wrap="square"/>
          <a:lstStyle/>
          <a:p>
            <a:pPr algn="l">
              <a:spcBef>
                <a:spcPts val="0"/>
              </a:spcBef>
              <a:spcAft>
                <a:spcPts val="0"/>
              </a:spcAft>
              <a:defRPr sz="1800" b="1">
                <a:solidFill>
                  <a:srgbClr val="0F172A"/>
                </a:solidFill>
                <a:latin typeface="Calibri"/>
              </a:defRPr>
            </a:pPr>
            <a:r>
              <a:t>Scalable</a:t>
            </a:r>
          </a:p>
        </p:txBody>
      </p:sp>
      <p:sp>
        <p:nvSpPr>
          <p:cNvPr id="44" name="TextBox 43"/>
          <p:cNvSpPr txBox="1"/>
          <p:nvPr/>
        </p:nvSpPr>
        <p:spPr>
          <a:xfrm>
            <a:off x="6675120" y="5760720"/>
            <a:ext cx="2103120" cy="457200"/>
          </a:xfrm>
          <a:prstGeom prst="rect">
            <a:avLst/>
          </a:prstGeom>
          <a:noFill/>
        </p:spPr>
        <p:txBody>
          <a:bodyPr wrap="square"/>
          <a:lstStyle/>
          <a:p>
            <a:pPr algn="l">
              <a:spcBef>
                <a:spcPts val="0"/>
              </a:spcBef>
              <a:spcAft>
                <a:spcPts val="0"/>
              </a:spcAft>
              <a:defRPr sz="1300" b="0">
                <a:solidFill>
                  <a:srgbClr val="64748B"/>
                </a:solidFill>
                <a:latin typeface="Calibri"/>
              </a:defRPr>
            </a:pPr>
            <a:r>
              <a:t>Horizontally scalable</a:t>
            </a:r>
            <a:br/>
            <a:r>
              <a:t>microservices architecture</a:t>
            </a:r>
          </a:p>
        </p:txBody>
      </p:sp>
      <p:sp>
        <p:nvSpPr>
          <p:cNvPr id="45" name="TextBox 44"/>
          <p:cNvSpPr txBox="1"/>
          <p:nvPr/>
        </p:nvSpPr>
        <p:spPr>
          <a:xfrm>
            <a:off x="9006839" y="5394960"/>
            <a:ext cx="365760" cy="365760"/>
          </a:xfrm>
          <a:prstGeom prst="rect">
            <a:avLst/>
          </a:prstGeom>
          <a:noFill/>
        </p:spPr>
        <p:txBody>
          <a:bodyPr wrap="square"/>
          <a:lstStyle/>
          <a:p>
            <a:pPr algn="l">
              <a:spcBef>
                <a:spcPts val="0"/>
              </a:spcBef>
              <a:spcAft>
                <a:spcPts val="0"/>
              </a:spcAft>
              <a:defRPr sz="2200" b="0">
                <a:solidFill>
                  <a:srgbClr val="0F172A"/>
                </a:solidFill>
                <a:latin typeface="Calibri"/>
              </a:defRPr>
            </a:pPr>
            <a:r>
              <a:t>🛡️</a:t>
            </a:r>
          </a:p>
        </p:txBody>
      </p:sp>
      <p:sp>
        <p:nvSpPr>
          <p:cNvPr id="46" name="TextBox 45"/>
          <p:cNvSpPr txBox="1"/>
          <p:nvPr/>
        </p:nvSpPr>
        <p:spPr>
          <a:xfrm>
            <a:off x="9464039" y="5394960"/>
            <a:ext cx="2103120" cy="365760"/>
          </a:xfrm>
          <a:prstGeom prst="rect">
            <a:avLst/>
          </a:prstGeom>
          <a:noFill/>
        </p:spPr>
        <p:txBody>
          <a:bodyPr wrap="square"/>
          <a:lstStyle/>
          <a:p>
            <a:pPr algn="l">
              <a:spcBef>
                <a:spcPts val="0"/>
              </a:spcBef>
              <a:spcAft>
                <a:spcPts val="0"/>
              </a:spcAft>
              <a:defRPr sz="1800" b="1">
                <a:solidFill>
                  <a:srgbClr val="0F172A"/>
                </a:solidFill>
                <a:latin typeface="Calibri"/>
              </a:defRPr>
            </a:pPr>
            <a:r>
              <a:t>Privacy First</a:t>
            </a:r>
          </a:p>
        </p:txBody>
      </p:sp>
      <p:sp>
        <p:nvSpPr>
          <p:cNvPr id="47" name="TextBox 46"/>
          <p:cNvSpPr txBox="1"/>
          <p:nvPr/>
        </p:nvSpPr>
        <p:spPr>
          <a:xfrm>
            <a:off x="9464039" y="5760720"/>
            <a:ext cx="2103120" cy="457200"/>
          </a:xfrm>
          <a:prstGeom prst="rect">
            <a:avLst/>
          </a:prstGeom>
          <a:noFill/>
        </p:spPr>
        <p:txBody>
          <a:bodyPr wrap="square"/>
          <a:lstStyle/>
          <a:p>
            <a:pPr algn="l">
              <a:spcBef>
                <a:spcPts val="0"/>
              </a:spcBef>
              <a:spcAft>
                <a:spcPts val="0"/>
              </a:spcAft>
              <a:defRPr sz="1300" b="0">
                <a:solidFill>
                  <a:srgbClr val="64748B"/>
                </a:solidFill>
                <a:latin typeface="Calibri"/>
              </a:defRPr>
            </a:pPr>
            <a:r>
              <a:t>Customer data never leaves</a:t>
            </a:r>
            <a:br/>
            <a:r>
              <a:t>your infrastructure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640080"/>
          </a:xfrm>
          <a:prstGeom prst="rect">
            <a:avLst/>
          </a:prstGeom>
          <a:noFill/>
        </p:spPr>
        <p:txBody>
          <a:bodyPr wrap="square"/>
          <a:lstStyle/>
          <a:p>
            <a:pPr algn="l">
              <a:spcBef>
                <a:spcPts val="0"/>
              </a:spcBef>
              <a:spcAft>
                <a:spcPts val="0"/>
              </a:spcAft>
              <a:defRPr sz="3600" b="1">
                <a:solidFill>
                  <a:srgbClr val="0F172A"/>
                </a:solidFill>
                <a:latin typeface="Calibri"/>
              </a:defRPr>
            </a:pPr>
            <a:r>
              <a:t>Business Value</a:t>
            </a:r>
          </a:p>
        </p:txBody>
      </p:sp>
      <p:sp>
        <p:nvSpPr>
          <p:cNvPr id="4" name="TextBox 3"/>
          <p:cNvSpPr txBox="1"/>
          <p:nvPr/>
        </p:nvSpPr>
        <p:spPr>
          <a:xfrm>
            <a:off x="640080" y="914400"/>
            <a:ext cx="10058400" cy="365760"/>
          </a:xfrm>
          <a:prstGeom prst="rect">
            <a:avLst/>
          </a:prstGeom>
          <a:noFill/>
        </p:spPr>
        <p:txBody>
          <a:bodyPr wrap="square"/>
          <a:lstStyle/>
          <a:p>
            <a:pPr algn="l">
              <a:spcBef>
                <a:spcPts val="0"/>
              </a:spcBef>
              <a:spcAft>
                <a:spcPts val="0"/>
              </a:spcAft>
              <a:defRPr sz="2200" b="0">
                <a:solidFill>
                  <a:srgbClr val="64748B"/>
                </a:solidFill>
                <a:latin typeface="Calibri"/>
              </a:defRPr>
            </a:pPr>
            <a:r>
              <a:t>Tangible outcomes for enterprise customers</a:t>
            </a:r>
          </a:p>
        </p:txBody>
      </p:sp>
      <p:sp>
        <p:nvSpPr>
          <p:cNvPr id="5" name="Rounded Rectangle 4"/>
          <p:cNvSpPr/>
          <p:nvPr/>
        </p:nvSpPr>
        <p:spPr>
          <a:xfrm>
            <a:off x="457200" y="1463040"/>
            <a:ext cx="265176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57200" y="1463040"/>
            <a:ext cx="45720" cy="21031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691640"/>
            <a:ext cx="365760" cy="365760"/>
          </a:xfrm>
          <a:prstGeom prst="rect">
            <a:avLst/>
          </a:prstGeom>
          <a:noFill/>
        </p:spPr>
        <p:txBody>
          <a:bodyPr wrap="square"/>
          <a:lstStyle/>
          <a:p>
            <a:pPr algn="l">
              <a:spcBef>
                <a:spcPts val="0"/>
              </a:spcBef>
              <a:spcAft>
                <a:spcPts val="0"/>
              </a:spcAft>
              <a:defRPr sz="2400" b="0">
                <a:solidFill>
                  <a:srgbClr val="0F172A"/>
                </a:solidFill>
                <a:latin typeface="Calibri"/>
              </a:defRPr>
            </a:pPr>
            <a:r>
              <a:t>👤</a:t>
            </a:r>
          </a:p>
        </p:txBody>
      </p:sp>
      <p:sp>
        <p:nvSpPr>
          <p:cNvPr id="8" name="TextBox 7"/>
          <p:cNvSpPr txBox="1"/>
          <p:nvPr/>
        </p:nvSpPr>
        <p:spPr>
          <a:xfrm>
            <a:off x="1097280" y="1645920"/>
            <a:ext cx="1737360" cy="548640"/>
          </a:xfrm>
          <a:prstGeom prst="rect">
            <a:avLst/>
          </a:prstGeom>
          <a:noFill/>
        </p:spPr>
        <p:txBody>
          <a:bodyPr wrap="square"/>
          <a:lstStyle/>
          <a:p>
            <a:pPr algn="l">
              <a:spcBef>
                <a:spcPts val="0"/>
              </a:spcBef>
              <a:spcAft>
                <a:spcPts val="0"/>
              </a:spcAft>
              <a:defRPr sz="1600" b="1">
                <a:solidFill>
                  <a:srgbClr val="0F172A"/>
                </a:solidFill>
                <a:latin typeface="Calibri"/>
              </a:defRPr>
            </a:pPr>
            <a:r>
              <a:t>Unified Customer</a:t>
            </a:r>
            <a:br/>
            <a:r>
              <a:t>Profiles</a:t>
            </a:r>
          </a:p>
        </p:txBody>
      </p:sp>
      <p:sp>
        <p:nvSpPr>
          <p:cNvPr id="9" name="TextBox 8"/>
          <p:cNvSpPr txBox="1"/>
          <p:nvPr/>
        </p:nvSpPr>
        <p:spPr>
          <a:xfrm>
            <a:off x="685800" y="2286000"/>
            <a:ext cx="2194560" cy="1097280"/>
          </a:xfrm>
          <a:prstGeom prst="rect">
            <a:avLst/>
          </a:prstGeom>
          <a:noFill/>
        </p:spPr>
        <p:txBody>
          <a:bodyPr wrap="square"/>
          <a:lstStyle/>
          <a:p>
            <a:pPr algn="l">
              <a:spcBef>
                <a:spcPts val="0"/>
              </a:spcBef>
              <a:spcAft>
                <a:spcPts val="0"/>
              </a:spcAft>
              <a:defRPr sz="1300" b="0">
                <a:solidFill>
                  <a:srgbClr val="64748B"/>
                </a:solidFill>
                <a:latin typeface="Calibri"/>
              </a:defRPr>
            </a:pPr>
            <a:r>
              <a:t>Single view of every</a:t>
            </a:r>
            <a:br/>
            <a:r>
              <a:t>customer across all</a:t>
            </a:r>
            <a:br/>
            <a:r>
              <a:t>platforms and devices</a:t>
            </a:r>
          </a:p>
        </p:txBody>
      </p:sp>
      <p:sp>
        <p:nvSpPr>
          <p:cNvPr id="10" name="Rounded Rectangle 9"/>
          <p:cNvSpPr/>
          <p:nvPr/>
        </p:nvSpPr>
        <p:spPr>
          <a:xfrm>
            <a:off x="3246120" y="1463040"/>
            <a:ext cx="265176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246120" y="1463040"/>
            <a:ext cx="45720" cy="21031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0" y="1691640"/>
            <a:ext cx="365760" cy="365760"/>
          </a:xfrm>
          <a:prstGeom prst="rect">
            <a:avLst/>
          </a:prstGeom>
          <a:noFill/>
        </p:spPr>
        <p:txBody>
          <a:bodyPr wrap="square"/>
          <a:lstStyle/>
          <a:p>
            <a:pPr algn="l">
              <a:spcBef>
                <a:spcPts val="0"/>
              </a:spcBef>
              <a:spcAft>
                <a:spcPts val="0"/>
              </a:spcAft>
              <a:defRPr sz="2400" b="0">
                <a:solidFill>
                  <a:srgbClr val="0F172A"/>
                </a:solidFill>
                <a:latin typeface="Calibri"/>
              </a:defRPr>
            </a:pPr>
            <a:r>
              <a:t>📈</a:t>
            </a:r>
          </a:p>
        </p:txBody>
      </p:sp>
      <p:sp>
        <p:nvSpPr>
          <p:cNvPr id="13" name="TextBox 12"/>
          <p:cNvSpPr txBox="1"/>
          <p:nvPr/>
        </p:nvSpPr>
        <p:spPr>
          <a:xfrm>
            <a:off x="3886200" y="1645920"/>
            <a:ext cx="1737360" cy="548640"/>
          </a:xfrm>
          <a:prstGeom prst="rect">
            <a:avLst/>
          </a:prstGeom>
          <a:noFill/>
        </p:spPr>
        <p:txBody>
          <a:bodyPr wrap="square"/>
          <a:lstStyle/>
          <a:p>
            <a:pPr algn="l">
              <a:spcBef>
                <a:spcPts val="0"/>
              </a:spcBef>
              <a:spcAft>
                <a:spcPts val="0"/>
              </a:spcAft>
              <a:defRPr sz="1600" b="1">
                <a:solidFill>
                  <a:srgbClr val="0F172A"/>
                </a:solidFill>
                <a:latin typeface="Calibri"/>
              </a:defRPr>
            </a:pPr>
            <a:r>
              <a:t>Higher Marketing</a:t>
            </a:r>
            <a:br/>
            <a:r>
              <a:t>ROI</a:t>
            </a:r>
          </a:p>
        </p:txBody>
      </p:sp>
      <p:sp>
        <p:nvSpPr>
          <p:cNvPr id="14" name="TextBox 13"/>
          <p:cNvSpPr txBox="1"/>
          <p:nvPr/>
        </p:nvSpPr>
        <p:spPr>
          <a:xfrm>
            <a:off x="3474720" y="2286000"/>
            <a:ext cx="2194560" cy="1097280"/>
          </a:xfrm>
          <a:prstGeom prst="rect">
            <a:avLst/>
          </a:prstGeom>
          <a:noFill/>
        </p:spPr>
        <p:txBody>
          <a:bodyPr wrap="square"/>
          <a:lstStyle/>
          <a:p>
            <a:pPr algn="l">
              <a:spcBef>
                <a:spcPts val="0"/>
              </a:spcBef>
              <a:spcAft>
                <a:spcPts val="0"/>
              </a:spcAft>
              <a:defRPr sz="1300" b="0">
                <a:solidFill>
                  <a:srgbClr val="64748B"/>
                </a:solidFill>
                <a:latin typeface="Calibri"/>
              </a:defRPr>
            </a:pPr>
            <a:r>
              <a:t>Up to 30% improvement</a:t>
            </a:r>
            <a:br/>
            <a:r>
              <a:t>in ad spend efficiency</a:t>
            </a:r>
            <a:br/>
            <a:r>
              <a:t>with targeted campaigns</a:t>
            </a:r>
          </a:p>
        </p:txBody>
      </p:sp>
      <p:sp>
        <p:nvSpPr>
          <p:cNvPr id="15" name="Rounded Rectangle 14"/>
          <p:cNvSpPr/>
          <p:nvPr/>
        </p:nvSpPr>
        <p:spPr>
          <a:xfrm>
            <a:off x="6035040" y="1463040"/>
            <a:ext cx="265176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035040" y="1463040"/>
            <a:ext cx="45720" cy="21031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63640" y="1691640"/>
            <a:ext cx="365760" cy="365760"/>
          </a:xfrm>
          <a:prstGeom prst="rect">
            <a:avLst/>
          </a:prstGeom>
          <a:noFill/>
        </p:spPr>
        <p:txBody>
          <a:bodyPr wrap="square"/>
          <a:lstStyle/>
          <a:p>
            <a:pPr algn="l">
              <a:spcBef>
                <a:spcPts val="0"/>
              </a:spcBef>
              <a:spcAft>
                <a:spcPts val="0"/>
              </a:spcAft>
              <a:defRPr sz="2400" b="0">
                <a:solidFill>
                  <a:srgbClr val="0F172A"/>
                </a:solidFill>
                <a:latin typeface="Calibri"/>
              </a:defRPr>
            </a:pPr>
            <a:r>
              <a:t>🎯</a:t>
            </a:r>
          </a:p>
        </p:txBody>
      </p:sp>
      <p:sp>
        <p:nvSpPr>
          <p:cNvPr id="18" name="TextBox 17"/>
          <p:cNvSpPr txBox="1"/>
          <p:nvPr/>
        </p:nvSpPr>
        <p:spPr>
          <a:xfrm>
            <a:off x="6675120" y="1645920"/>
            <a:ext cx="1737360" cy="548640"/>
          </a:xfrm>
          <a:prstGeom prst="rect">
            <a:avLst/>
          </a:prstGeom>
          <a:noFill/>
        </p:spPr>
        <p:txBody>
          <a:bodyPr wrap="square"/>
          <a:lstStyle/>
          <a:p>
            <a:pPr algn="l">
              <a:spcBef>
                <a:spcPts val="0"/>
              </a:spcBef>
              <a:spcAft>
                <a:spcPts val="0"/>
              </a:spcAft>
              <a:defRPr sz="1600" b="1">
                <a:solidFill>
                  <a:srgbClr val="0F172A"/>
                </a:solidFill>
                <a:latin typeface="Calibri"/>
              </a:defRPr>
            </a:pPr>
            <a:r>
              <a:t>Better Customer</a:t>
            </a:r>
            <a:br/>
            <a:r>
              <a:t>Insights</a:t>
            </a:r>
          </a:p>
        </p:txBody>
      </p:sp>
      <p:sp>
        <p:nvSpPr>
          <p:cNvPr id="19" name="TextBox 18"/>
          <p:cNvSpPr txBox="1"/>
          <p:nvPr/>
        </p:nvSpPr>
        <p:spPr>
          <a:xfrm>
            <a:off x="6263640" y="2286000"/>
            <a:ext cx="2194560" cy="1097280"/>
          </a:xfrm>
          <a:prstGeom prst="rect">
            <a:avLst/>
          </a:prstGeom>
          <a:noFill/>
        </p:spPr>
        <p:txBody>
          <a:bodyPr wrap="square"/>
          <a:lstStyle/>
          <a:p>
            <a:pPr algn="l">
              <a:spcBef>
                <a:spcPts val="0"/>
              </a:spcBef>
              <a:spcAft>
                <a:spcPts val="0"/>
              </a:spcAft>
              <a:defRPr sz="1300" b="0">
                <a:solidFill>
                  <a:srgbClr val="64748B"/>
                </a:solidFill>
                <a:latin typeface="Calibri"/>
              </a:defRPr>
            </a:pPr>
            <a:r>
              <a:t>Deep intent profiling</a:t>
            </a:r>
            <a:br/>
            <a:r>
              <a:t>and behavioral</a:t>
            </a:r>
            <a:br/>
            <a:r>
              <a:t>understanding at scale</a:t>
            </a:r>
          </a:p>
        </p:txBody>
      </p:sp>
      <p:sp>
        <p:nvSpPr>
          <p:cNvPr id="20" name="Rounded Rectangle 19"/>
          <p:cNvSpPr/>
          <p:nvPr/>
        </p:nvSpPr>
        <p:spPr>
          <a:xfrm>
            <a:off x="8823960" y="1463040"/>
            <a:ext cx="265176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823960" y="1463040"/>
            <a:ext cx="45720" cy="210312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052560" y="1691640"/>
            <a:ext cx="365760" cy="365760"/>
          </a:xfrm>
          <a:prstGeom prst="rect">
            <a:avLst/>
          </a:prstGeom>
          <a:noFill/>
        </p:spPr>
        <p:txBody>
          <a:bodyPr wrap="square"/>
          <a:lstStyle/>
          <a:p>
            <a:pPr algn="l">
              <a:spcBef>
                <a:spcPts val="0"/>
              </a:spcBef>
              <a:spcAft>
                <a:spcPts val="0"/>
              </a:spcAft>
              <a:defRPr sz="2400" b="0">
                <a:solidFill>
                  <a:srgbClr val="0F172A"/>
                </a:solidFill>
                <a:latin typeface="Calibri"/>
              </a:defRPr>
            </a:pPr>
            <a:r>
              <a:t>🔒</a:t>
            </a:r>
          </a:p>
        </p:txBody>
      </p:sp>
      <p:sp>
        <p:nvSpPr>
          <p:cNvPr id="23" name="TextBox 22"/>
          <p:cNvSpPr txBox="1"/>
          <p:nvPr/>
        </p:nvSpPr>
        <p:spPr>
          <a:xfrm>
            <a:off x="9464040" y="1645920"/>
            <a:ext cx="1737360" cy="548640"/>
          </a:xfrm>
          <a:prstGeom prst="rect">
            <a:avLst/>
          </a:prstGeom>
          <a:noFill/>
        </p:spPr>
        <p:txBody>
          <a:bodyPr wrap="square"/>
          <a:lstStyle/>
          <a:p>
            <a:pPr algn="l">
              <a:spcBef>
                <a:spcPts val="0"/>
              </a:spcBef>
              <a:spcAft>
                <a:spcPts val="0"/>
              </a:spcAft>
              <a:defRPr sz="1600" b="1">
                <a:solidFill>
                  <a:srgbClr val="0F172A"/>
                </a:solidFill>
                <a:latin typeface="Calibri"/>
              </a:defRPr>
            </a:pPr>
            <a:r>
              <a:t>Privacy-Centric</a:t>
            </a:r>
            <a:br/>
            <a:r>
              <a:t>Architecture</a:t>
            </a:r>
          </a:p>
        </p:txBody>
      </p:sp>
      <p:sp>
        <p:nvSpPr>
          <p:cNvPr id="24" name="TextBox 23"/>
          <p:cNvSpPr txBox="1"/>
          <p:nvPr/>
        </p:nvSpPr>
        <p:spPr>
          <a:xfrm>
            <a:off x="9052560" y="2286000"/>
            <a:ext cx="2194560" cy="1097280"/>
          </a:xfrm>
          <a:prstGeom prst="rect">
            <a:avLst/>
          </a:prstGeom>
          <a:noFill/>
        </p:spPr>
        <p:txBody>
          <a:bodyPr wrap="square"/>
          <a:lstStyle/>
          <a:p>
            <a:pPr algn="l">
              <a:spcBef>
                <a:spcPts val="0"/>
              </a:spcBef>
              <a:spcAft>
                <a:spcPts val="0"/>
              </a:spcAft>
              <a:defRPr sz="1300" b="0">
                <a:solidFill>
                  <a:srgbClr val="64748B"/>
                </a:solidFill>
                <a:latin typeface="Calibri"/>
              </a:defRPr>
            </a:pPr>
            <a:r>
              <a:t>Local AI inference</a:t>
            </a:r>
            <a:br/>
            <a:r>
              <a:t>GDPR-ready design</a:t>
            </a:r>
            <a:br/>
            <a:r>
              <a:t>no data exfiltration</a:t>
            </a:r>
          </a:p>
        </p:txBody>
      </p:sp>
      <p:sp>
        <p:nvSpPr>
          <p:cNvPr id="25" name="Rounded Rectangle 24"/>
          <p:cNvSpPr/>
          <p:nvPr/>
        </p:nvSpPr>
        <p:spPr>
          <a:xfrm>
            <a:off x="457200" y="3703320"/>
            <a:ext cx="265176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457200" y="3703320"/>
            <a:ext cx="45720" cy="21031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3931920"/>
            <a:ext cx="365760" cy="365760"/>
          </a:xfrm>
          <a:prstGeom prst="rect">
            <a:avLst/>
          </a:prstGeom>
          <a:noFill/>
        </p:spPr>
        <p:txBody>
          <a:bodyPr wrap="square"/>
          <a:lstStyle/>
          <a:p>
            <a:pPr algn="l">
              <a:spcBef>
                <a:spcPts val="0"/>
              </a:spcBef>
              <a:spcAft>
                <a:spcPts val="0"/>
              </a:spcAft>
              <a:defRPr sz="2400" b="0">
                <a:solidFill>
                  <a:srgbClr val="0F172A"/>
                </a:solidFill>
                <a:latin typeface="Calibri"/>
              </a:defRPr>
            </a:pPr>
            <a:r>
              <a:t>💰</a:t>
            </a:r>
          </a:p>
        </p:txBody>
      </p:sp>
      <p:sp>
        <p:nvSpPr>
          <p:cNvPr id="28" name="TextBox 27"/>
          <p:cNvSpPr txBox="1"/>
          <p:nvPr/>
        </p:nvSpPr>
        <p:spPr>
          <a:xfrm>
            <a:off x="1097280" y="3886200"/>
            <a:ext cx="1737360" cy="548640"/>
          </a:xfrm>
          <a:prstGeom prst="rect">
            <a:avLst/>
          </a:prstGeom>
          <a:noFill/>
        </p:spPr>
        <p:txBody>
          <a:bodyPr wrap="square"/>
          <a:lstStyle/>
          <a:p>
            <a:pPr algn="l">
              <a:spcBef>
                <a:spcPts val="0"/>
              </a:spcBef>
              <a:spcAft>
                <a:spcPts val="0"/>
              </a:spcAft>
              <a:defRPr sz="1600" b="1">
                <a:solidFill>
                  <a:srgbClr val="0F172A"/>
                </a:solidFill>
                <a:latin typeface="Calibri"/>
              </a:defRPr>
            </a:pPr>
            <a:r>
              <a:t>Reduced Customer</a:t>
            </a:r>
            <a:br/>
            <a:r>
              <a:t>Acquisition Cost</a:t>
            </a:r>
          </a:p>
        </p:txBody>
      </p:sp>
      <p:sp>
        <p:nvSpPr>
          <p:cNvPr id="29" name="TextBox 28"/>
          <p:cNvSpPr txBox="1"/>
          <p:nvPr/>
        </p:nvSpPr>
        <p:spPr>
          <a:xfrm>
            <a:off x="685800" y="4526280"/>
            <a:ext cx="2194560" cy="1097280"/>
          </a:xfrm>
          <a:prstGeom prst="rect">
            <a:avLst/>
          </a:prstGeom>
          <a:noFill/>
        </p:spPr>
        <p:txBody>
          <a:bodyPr wrap="square"/>
          <a:lstStyle/>
          <a:p>
            <a:pPr algn="l">
              <a:spcBef>
                <a:spcPts val="0"/>
              </a:spcBef>
              <a:spcAft>
                <a:spcPts val="0"/>
              </a:spcAft>
              <a:defRPr sz="1300" b="0">
                <a:solidFill>
                  <a:srgbClr val="64748B"/>
                </a:solidFill>
                <a:latin typeface="Calibri"/>
              </a:defRPr>
            </a:pPr>
            <a:r>
              <a:t>Personalized marketing</a:t>
            </a:r>
            <a:br/>
            <a:r>
              <a:t>reduces CAC by</a:t>
            </a:r>
            <a:br/>
            <a:r>
              <a:t>eliminating waste</a:t>
            </a:r>
          </a:p>
        </p:txBody>
      </p:sp>
      <p:sp>
        <p:nvSpPr>
          <p:cNvPr id="30" name="Rounded Rectangle 29"/>
          <p:cNvSpPr/>
          <p:nvPr/>
        </p:nvSpPr>
        <p:spPr>
          <a:xfrm>
            <a:off x="3246120" y="3703320"/>
            <a:ext cx="265176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3246120" y="3703320"/>
            <a:ext cx="45720" cy="21031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0" y="3931920"/>
            <a:ext cx="365760" cy="365760"/>
          </a:xfrm>
          <a:prstGeom prst="rect">
            <a:avLst/>
          </a:prstGeom>
          <a:noFill/>
        </p:spPr>
        <p:txBody>
          <a:bodyPr wrap="square"/>
          <a:lstStyle/>
          <a:p>
            <a:pPr algn="l">
              <a:spcBef>
                <a:spcPts val="0"/>
              </a:spcBef>
              <a:spcAft>
                <a:spcPts val="0"/>
              </a:spcAft>
              <a:defRPr sz="2400" b="0">
                <a:solidFill>
                  <a:srgbClr val="0F172A"/>
                </a:solidFill>
                <a:latin typeface="Calibri"/>
              </a:defRPr>
            </a:pPr>
            <a:r>
              <a:t>📊</a:t>
            </a:r>
          </a:p>
        </p:txBody>
      </p:sp>
      <p:sp>
        <p:nvSpPr>
          <p:cNvPr id="33" name="TextBox 32"/>
          <p:cNvSpPr txBox="1"/>
          <p:nvPr/>
        </p:nvSpPr>
        <p:spPr>
          <a:xfrm>
            <a:off x="3886200" y="3886200"/>
            <a:ext cx="1737360" cy="548640"/>
          </a:xfrm>
          <a:prstGeom prst="rect">
            <a:avLst/>
          </a:prstGeom>
          <a:noFill/>
        </p:spPr>
        <p:txBody>
          <a:bodyPr wrap="square"/>
          <a:lstStyle/>
          <a:p>
            <a:pPr algn="l">
              <a:spcBef>
                <a:spcPts val="0"/>
              </a:spcBef>
              <a:spcAft>
                <a:spcPts val="0"/>
              </a:spcAft>
              <a:defRPr sz="1600" b="1">
                <a:solidFill>
                  <a:srgbClr val="0F172A"/>
                </a:solidFill>
                <a:latin typeface="Calibri"/>
              </a:defRPr>
            </a:pPr>
            <a:r>
              <a:t>Personalized</a:t>
            </a:r>
            <a:br/>
            <a:r>
              <a:t>Marketing</a:t>
            </a:r>
          </a:p>
        </p:txBody>
      </p:sp>
      <p:sp>
        <p:nvSpPr>
          <p:cNvPr id="34" name="TextBox 33"/>
          <p:cNvSpPr txBox="1"/>
          <p:nvPr/>
        </p:nvSpPr>
        <p:spPr>
          <a:xfrm>
            <a:off x="3474720" y="4526280"/>
            <a:ext cx="2194560" cy="1097280"/>
          </a:xfrm>
          <a:prstGeom prst="rect">
            <a:avLst/>
          </a:prstGeom>
          <a:noFill/>
        </p:spPr>
        <p:txBody>
          <a:bodyPr wrap="square"/>
          <a:lstStyle/>
          <a:p>
            <a:pPr algn="l">
              <a:spcBef>
                <a:spcPts val="0"/>
              </a:spcBef>
              <a:spcAft>
                <a:spcPts val="0"/>
              </a:spcAft>
              <a:defRPr sz="1300" b="0">
                <a:solidFill>
                  <a:srgbClr val="64748B"/>
                </a:solidFill>
                <a:latin typeface="Calibri"/>
              </a:defRPr>
            </a:pPr>
            <a:r>
              <a:t>AI-generated creatives</a:t>
            </a:r>
            <a:br/>
            <a:r>
              <a:t>tailored to individual</a:t>
            </a:r>
            <a:br/>
            <a:r>
              <a:t>customer preferences</a:t>
            </a:r>
          </a:p>
        </p:txBody>
      </p:sp>
      <p:sp>
        <p:nvSpPr>
          <p:cNvPr id="35" name="Rounded Rectangle 34"/>
          <p:cNvSpPr/>
          <p:nvPr/>
        </p:nvSpPr>
        <p:spPr>
          <a:xfrm>
            <a:off x="6035040" y="3703320"/>
            <a:ext cx="265176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035040" y="3703320"/>
            <a:ext cx="45720" cy="21031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263640" y="3931920"/>
            <a:ext cx="365760" cy="365760"/>
          </a:xfrm>
          <a:prstGeom prst="rect">
            <a:avLst/>
          </a:prstGeom>
          <a:noFill/>
        </p:spPr>
        <p:txBody>
          <a:bodyPr wrap="square"/>
          <a:lstStyle/>
          <a:p>
            <a:pPr algn="l">
              <a:spcBef>
                <a:spcPts val="0"/>
              </a:spcBef>
              <a:spcAft>
                <a:spcPts val="0"/>
              </a:spcAft>
              <a:defRPr sz="2400" b="0">
                <a:solidFill>
                  <a:srgbClr val="0F172A"/>
                </a:solidFill>
                <a:latin typeface="Calibri"/>
              </a:defRPr>
            </a:pPr>
            <a:r>
              <a:t>⚡</a:t>
            </a:r>
          </a:p>
        </p:txBody>
      </p:sp>
      <p:sp>
        <p:nvSpPr>
          <p:cNvPr id="38" name="TextBox 37"/>
          <p:cNvSpPr txBox="1"/>
          <p:nvPr/>
        </p:nvSpPr>
        <p:spPr>
          <a:xfrm>
            <a:off x="6675120" y="3886200"/>
            <a:ext cx="1737360" cy="548640"/>
          </a:xfrm>
          <a:prstGeom prst="rect">
            <a:avLst/>
          </a:prstGeom>
          <a:noFill/>
        </p:spPr>
        <p:txBody>
          <a:bodyPr wrap="square"/>
          <a:lstStyle/>
          <a:p>
            <a:pPr algn="l">
              <a:spcBef>
                <a:spcPts val="0"/>
              </a:spcBef>
              <a:spcAft>
                <a:spcPts val="0"/>
              </a:spcAft>
              <a:defRPr sz="1600" b="1">
                <a:solidFill>
                  <a:srgbClr val="0F172A"/>
                </a:solidFill>
                <a:latin typeface="Calibri"/>
              </a:defRPr>
            </a:pPr>
            <a:r>
              <a:t>Scalable Event</a:t>
            </a:r>
            <a:br/>
            <a:r>
              <a:t>Pipeline</a:t>
            </a:r>
          </a:p>
        </p:txBody>
      </p:sp>
      <p:sp>
        <p:nvSpPr>
          <p:cNvPr id="39" name="TextBox 38"/>
          <p:cNvSpPr txBox="1"/>
          <p:nvPr/>
        </p:nvSpPr>
        <p:spPr>
          <a:xfrm>
            <a:off x="6263640" y="4526280"/>
            <a:ext cx="2194560" cy="1097280"/>
          </a:xfrm>
          <a:prstGeom prst="rect">
            <a:avLst/>
          </a:prstGeom>
          <a:noFill/>
        </p:spPr>
        <p:txBody>
          <a:bodyPr wrap="square"/>
          <a:lstStyle/>
          <a:p>
            <a:pPr algn="l">
              <a:spcBef>
                <a:spcPts val="0"/>
              </a:spcBef>
              <a:spcAft>
                <a:spcPts val="0"/>
              </a:spcAft>
              <a:defRPr sz="1300" b="0">
                <a:solidFill>
                  <a:srgbClr val="64748B"/>
                </a:solidFill>
                <a:latin typeface="Calibri"/>
              </a:defRPr>
            </a:pPr>
            <a:r>
              <a:t>Kafka-based streaming</a:t>
            </a:r>
            <a:br/>
            <a:r>
              <a:t>handles millions of</a:t>
            </a:r>
            <a:br/>
            <a:r>
              <a:t>events per second</a:t>
            </a:r>
          </a:p>
        </p:txBody>
      </p:sp>
      <p:sp>
        <p:nvSpPr>
          <p:cNvPr id="40" name="Rounded Rectangle 39"/>
          <p:cNvSpPr/>
          <p:nvPr/>
        </p:nvSpPr>
        <p:spPr>
          <a:xfrm>
            <a:off x="8823960" y="3703320"/>
            <a:ext cx="265176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8823960" y="3703320"/>
            <a:ext cx="45720" cy="210312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052560" y="3931920"/>
            <a:ext cx="365760" cy="365760"/>
          </a:xfrm>
          <a:prstGeom prst="rect">
            <a:avLst/>
          </a:prstGeom>
          <a:noFill/>
        </p:spPr>
        <p:txBody>
          <a:bodyPr wrap="square"/>
          <a:lstStyle/>
          <a:p>
            <a:pPr algn="l">
              <a:spcBef>
                <a:spcPts val="0"/>
              </a:spcBef>
              <a:spcAft>
                <a:spcPts val="0"/>
              </a:spcAft>
              <a:defRPr sz="2400" b="0">
                <a:solidFill>
                  <a:srgbClr val="0F172A"/>
                </a:solidFill>
                <a:latin typeface="Calibri"/>
              </a:defRPr>
            </a:pPr>
            <a:r>
              <a:t>🏗️</a:t>
            </a:r>
          </a:p>
        </p:txBody>
      </p:sp>
      <p:sp>
        <p:nvSpPr>
          <p:cNvPr id="43" name="TextBox 42"/>
          <p:cNvSpPr txBox="1"/>
          <p:nvPr/>
        </p:nvSpPr>
        <p:spPr>
          <a:xfrm>
            <a:off x="9464040" y="3886200"/>
            <a:ext cx="1737360" cy="548640"/>
          </a:xfrm>
          <a:prstGeom prst="rect">
            <a:avLst/>
          </a:prstGeom>
          <a:noFill/>
        </p:spPr>
        <p:txBody>
          <a:bodyPr wrap="square"/>
          <a:lstStyle/>
          <a:p>
            <a:pPr algn="l">
              <a:spcBef>
                <a:spcPts val="0"/>
              </a:spcBef>
              <a:spcAft>
                <a:spcPts val="0"/>
              </a:spcAft>
              <a:defRPr sz="1600" b="1">
                <a:solidFill>
                  <a:srgbClr val="0F172A"/>
                </a:solidFill>
                <a:latin typeface="Calibri"/>
              </a:defRPr>
            </a:pPr>
            <a:r>
              <a:t>Enterprise Ready</a:t>
            </a:r>
            <a:br/>
            <a:r>
              <a:t>Architecture</a:t>
            </a:r>
          </a:p>
        </p:txBody>
      </p:sp>
      <p:sp>
        <p:nvSpPr>
          <p:cNvPr id="44" name="TextBox 43"/>
          <p:cNvSpPr txBox="1"/>
          <p:nvPr/>
        </p:nvSpPr>
        <p:spPr>
          <a:xfrm>
            <a:off x="9052560" y="4526280"/>
            <a:ext cx="2194560" cy="1097280"/>
          </a:xfrm>
          <a:prstGeom prst="rect">
            <a:avLst/>
          </a:prstGeom>
          <a:noFill/>
        </p:spPr>
        <p:txBody>
          <a:bodyPr wrap="square"/>
          <a:lstStyle/>
          <a:p>
            <a:pPr algn="l">
              <a:spcBef>
                <a:spcPts val="0"/>
              </a:spcBef>
              <a:spcAft>
                <a:spcPts val="0"/>
              </a:spcAft>
              <a:defRPr sz="1300" b="0">
                <a:solidFill>
                  <a:srgbClr val="64748B"/>
                </a:solidFill>
                <a:latin typeface="Calibri"/>
              </a:defRPr>
            </a:pPr>
            <a:r>
              <a:t>Containerized, cloud-</a:t>
            </a:r>
            <a:br/>
            <a:r>
              <a:t>agnostic deployment</a:t>
            </a:r>
            <a:br/>
            <a:r>
              <a:t>with Docker Compose</a:t>
            </a:r>
          </a:p>
        </p:txBody>
      </p:sp>
      <p:sp>
        <p:nvSpPr>
          <p:cNvPr id="45" name="Rounded Rectangle 44"/>
          <p:cNvSpPr/>
          <p:nvPr/>
        </p:nvSpPr>
        <p:spPr>
          <a:xfrm>
            <a:off x="457200" y="5669280"/>
            <a:ext cx="11247120" cy="3657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0080" y="5852160"/>
            <a:ext cx="10515600" cy="457200"/>
          </a:xfrm>
          <a:prstGeom prst="rect">
            <a:avLst/>
          </a:prstGeom>
          <a:noFill/>
        </p:spPr>
        <p:txBody>
          <a:bodyPr wrap="square"/>
          <a:lstStyle/>
          <a:p>
            <a:pPr algn="ctr">
              <a:spcBef>
                <a:spcPts val="0"/>
              </a:spcBef>
              <a:spcAft>
                <a:spcPts val="0"/>
              </a:spcAft>
              <a:defRPr sz="1800" b="1">
                <a:solidFill>
                  <a:srgbClr val="2563EB"/>
                </a:solidFill>
                <a:latin typeface="Calibri"/>
              </a:defRPr>
            </a:pPr>
            <a:r>
              <a:t>30% ↑ Marketing ROI  ·  2x Recommendation Accuracy  ·  Real-time Profiles  ·  Zero Data Leakage  ·  Sub-second Latency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640080"/>
          </a:xfrm>
          <a:prstGeom prst="rect">
            <a:avLst/>
          </a:prstGeom>
          <a:noFill/>
        </p:spPr>
        <p:txBody>
          <a:bodyPr wrap="square"/>
          <a:lstStyle/>
          <a:p>
            <a:pPr algn="l">
              <a:spcBef>
                <a:spcPts val="0"/>
              </a:spcBef>
              <a:spcAft>
                <a:spcPts val="0"/>
              </a:spcAft>
              <a:defRPr sz="3600" b="1">
                <a:solidFill>
                  <a:srgbClr val="0F172A"/>
                </a:solidFill>
                <a:latin typeface="Calibri"/>
              </a:defRPr>
            </a:pPr>
            <a:r>
              <a:t>Future Roadmap</a:t>
            </a:r>
          </a:p>
        </p:txBody>
      </p:sp>
      <p:sp>
        <p:nvSpPr>
          <p:cNvPr id="4" name="TextBox 3"/>
          <p:cNvSpPr txBox="1"/>
          <p:nvPr/>
        </p:nvSpPr>
        <p:spPr>
          <a:xfrm>
            <a:off x="640080" y="914400"/>
            <a:ext cx="10058400" cy="365760"/>
          </a:xfrm>
          <a:prstGeom prst="rect">
            <a:avLst/>
          </a:prstGeom>
          <a:noFill/>
        </p:spPr>
        <p:txBody>
          <a:bodyPr wrap="square"/>
          <a:lstStyle/>
          <a:p>
            <a:pPr algn="l">
              <a:spcBef>
                <a:spcPts val="0"/>
              </a:spcBef>
              <a:spcAft>
                <a:spcPts val="0"/>
              </a:spcAft>
              <a:defRPr sz="2200" b="0">
                <a:solidFill>
                  <a:srgbClr val="64748B"/>
                </a:solidFill>
                <a:latin typeface="Calibri"/>
              </a:defRPr>
            </a:pPr>
            <a:r>
              <a:t>Eight-phase roadmap from enterprise hardening to advanced AI capabilities</a:t>
            </a:r>
          </a:p>
        </p:txBody>
      </p:sp>
      <p:sp>
        <p:nvSpPr>
          <p:cNvPr id="5" name="Rounded Rectangle 4"/>
          <p:cNvSpPr/>
          <p:nvPr/>
        </p:nvSpPr>
        <p:spPr>
          <a:xfrm>
            <a:off x="457200" y="2103120"/>
            <a:ext cx="11247120" cy="3657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54964" y="1993392"/>
            <a:ext cx="256032" cy="256032"/>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600200"/>
            <a:ext cx="1234440" cy="274320"/>
          </a:xfrm>
          <a:prstGeom prst="rect">
            <a:avLst/>
          </a:prstGeom>
          <a:noFill/>
        </p:spPr>
        <p:txBody>
          <a:bodyPr wrap="square"/>
          <a:lstStyle/>
          <a:p>
            <a:pPr algn="ctr">
              <a:spcBef>
                <a:spcPts val="0"/>
              </a:spcBef>
              <a:spcAft>
                <a:spcPts val="0"/>
              </a:spcAft>
              <a:defRPr sz="1100" b="1">
                <a:solidFill>
                  <a:srgbClr val="2563EB"/>
                </a:solidFill>
                <a:latin typeface="Calibri"/>
              </a:defRPr>
            </a:pPr>
            <a:r>
              <a:t>Phase 1</a:t>
            </a:r>
          </a:p>
        </p:txBody>
      </p:sp>
      <p:sp>
        <p:nvSpPr>
          <p:cNvPr id="8" name="Rounded Rectangle 7"/>
          <p:cNvSpPr/>
          <p:nvPr/>
        </p:nvSpPr>
        <p:spPr>
          <a:xfrm>
            <a:off x="365760" y="2468880"/>
            <a:ext cx="12344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65760" y="2468880"/>
            <a:ext cx="1234440" cy="457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2651760"/>
            <a:ext cx="1051560" cy="548640"/>
          </a:xfrm>
          <a:prstGeom prst="rect">
            <a:avLst/>
          </a:prstGeom>
          <a:noFill/>
        </p:spPr>
        <p:txBody>
          <a:bodyPr wrap="square"/>
          <a:lstStyle/>
          <a:p>
            <a:pPr algn="ctr">
              <a:spcBef>
                <a:spcPts val="0"/>
              </a:spcBef>
              <a:spcAft>
                <a:spcPts val="0"/>
              </a:spcAft>
              <a:defRPr sz="1300" b="1">
                <a:solidFill>
                  <a:srgbClr val="0F172A"/>
                </a:solidFill>
                <a:latin typeface="Calibri"/>
              </a:defRPr>
            </a:pPr>
            <a:r>
              <a:t>Authentication</a:t>
            </a:r>
            <a:br/>
            <a:r>
              <a:t>&amp; Auth</a:t>
            </a:r>
          </a:p>
        </p:txBody>
      </p:sp>
      <p:sp>
        <p:nvSpPr>
          <p:cNvPr id="11" name="TextBox 10"/>
          <p:cNvSpPr txBox="1"/>
          <p:nvPr/>
        </p:nvSpPr>
        <p:spPr>
          <a:xfrm>
            <a:off x="457200" y="3246120"/>
            <a:ext cx="1051560" cy="548640"/>
          </a:xfrm>
          <a:prstGeom prst="rect">
            <a:avLst/>
          </a:prstGeom>
          <a:noFill/>
        </p:spPr>
        <p:txBody>
          <a:bodyPr wrap="square"/>
          <a:lstStyle/>
          <a:p>
            <a:pPr algn="ctr">
              <a:spcBef>
                <a:spcPts val="0"/>
              </a:spcBef>
              <a:spcAft>
                <a:spcPts val="0"/>
              </a:spcAft>
              <a:defRPr sz="1000" b="0">
                <a:solidFill>
                  <a:srgbClr val="64748B"/>
                </a:solidFill>
                <a:latin typeface="Calibri"/>
              </a:defRPr>
            </a:pPr>
            <a:r>
              <a:t>OAuth 2.0, SSO</a:t>
            </a:r>
            <a:br/>
            <a:r>
              <a:t>JWT-based security</a:t>
            </a:r>
          </a:p>
        </p:txBody>
      </p:sp>
      <p:sp>
        <p:nvSpPr>
          <p:cNvPr id="12" name="TextBox 11"/>
          <p:cNvSpPr txBox="1"/>
          <p:nvPr/>
        </p:nvSpPr>
        <p:spPr>
          <a:xfrm>
            <a:off x="457200" y="3886200"/>
            <a:ext cx="1051560" cy="274320"/>
          </a:xfrm>
          <a:prstGeom prst="rect">
            <a:avLst/>
          </a:prstGeom>
          <a:noFill/>
        </p:spPr>
        <p:txBody>
          <a:bodyPr wrap="square"/>
          <a:lstStyle/>
          <a:p>
            <a:pPr algn="ctr">
              <a:spcBef>
                <a:spcPts val="0"/>
              </a:spcBef>
              <a:spcAft>
                <a:spcPts val="0"/>
              </a:spcAft>
              <a:defRPr sz="1000" b="1">
                <a:solidFill>
                  <a:srgbClr val="2563EB"/>
                </a:solidFill>
                <a:latin typeface="Calibri"/>
              </a:defRPr>
            </a:pPr>
            <a:r>
              <a:t>Q3 2026</a:t>
            </a:r>
          </a:p>
        </p:txBody>
      </p:sp>
      <p:sp>
        <p:nvSpPr>
          <p:cNvPr id="13" name="Oval 12"/>
          <p:cNvSpPr/>
          <p:nvPr/>
        </p:nvSpPr>
        <p:spPr>
          <a:xfrm>
            <a:off x="2226564" y="1993392"/>
            <a:ext cx="256032" cy="25603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737360" y="1600200"/>
            <a:ext cx="1234440" cy="274320"/>
          </a:xfrm>
          <a:prstGeom prst="rect">
            <a:avLst/>
          </a:prstGeom>
          <a:noFill/>
        </p:spPr>
        <p:txBody>
          <a:bodyPr wrap="square"/>
          <a:lstStyle/>
          <a:p>
            <a:pPr algn="ctr">
              <a:spcBef>
                <a:spcPts val="0"/>
              </a:spcBef>
              <a:spcAft>
                <a:spcPts val="0"/>
              </a:spcAft>
              <a:defRPr sz="1100" b="1">
                <a:solidFill>
                  <a:srgbClr val="7C3AED"/>
                </a:solidFill>
                <a:latin typeface="Calibri"/>
              </a:defRPr>
            </a:pPr>
            <a:r>
              <a:t>Phase 2</a:t>
            </a:r>
          </a:p>
        </p:txBody>
      </p:sp>
      <p:sp>
        <p:nvSpPr>
          <p:cNvPr id="15" name="Rounded Rectangle 14"/>
          <p:cNvSpPr/>
          <p:nvPr/>
        </p:nvSpPr>
        <p:spPr>
          <a:xfrm>
            <a:off x="1737360" y="2468880"/>
            <a:ext cx="12344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737360" y="2468880"/>
            <a:ext cx="1234440" cy="4572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828800" y="2651760"/>
            <a:ext cx="1051560" cy="548640"/>
          </a:xfrm>
          <a:prstGeom prst="rect">
            <a:avLst/>
          </a:prstGeom>
          <a:noFill/>
        </p:spPr>
        <p:txBody>
          <a:bodyPr wrap="square"/>
          <a:lstStyle/>
          <a:p>
            <a:pPr algn="ctr">
              <a:spcBef>
                <a:spcPts val="0"/>
              </a:spcBef>
              <a:spcAft>
                <a:spcPts val="0"/>
              </a:spcAft>
              <a:defRPr sz="1300" b="1">
                <a:solidFill>
                  <a:srgbClr val="0F172A"/>
                </a:solidFill>
                <a:latin typeface="Calibri"/>
              </a:defRPr>
            </a:pPr>
            <a:r>
              <a:t>Real-time</a:t>
            </a:r>
            <a:br/>
            <a:r>
              <a:t>Analytics</a:t>
            </a:r>
          </a:p>
        </p:txBody>
      </p:sp>
      <p:sp>
        <p:nvSpPr>
          <p:cNvPr id="18" name="TextBox 17"/>
          <p:cNvSpPr txBox="1"/>
          <p:nvPr/>
        </p:nvSpPr>
        <p:spPr>
          <a:xfrm>
            <a:off x="1828800" y="3246120"/>
            <a:ext cx="1051560" cy="548640"/>
          </a:xfrm>
          <a:prstGeom prst="rect">
            <a:avLst/>
          </a:prstGeom>
          <a:noFill/>
        </p:spPr>
        <p:txBody>
          <a:bodyPr wrap="square"/>
          <a:lstStyle/>
          <a:p>
            <a:pPr algn="ctr">
              <a:spcBef>
                <a:spcPts val="0"/>
              </a:spcBef>
              <a:spcAft>
                <a:spcPts val="0"/>
              </a:spcAft>
              <a:defRPr sz="1000" b="0">
                <a:solidFill>
                  <a:srgbClr val="64748B"/>
                </a:solidFill>
                <a:latin typeface="Calibri"/>
              </a:defRPr>
            </a:pPr>
            <a:r>
              <a:t>Apache Flink streaming</a:t>
            </a:r>
            <a:br/>
            <a:r>
              <a:t>advanced aggregations</a:t>
            </a:r>
          </a:p>
        </p:txBody>
      </p:sp>
      <p:sp>
        <p:nvSpPr>
          <p:cNvPr id="19" name="TextBox 18"/>
          <p:cNvSpPr txBox="1"/>
          <p:nvPr/>
        </p:nvSpPr>
        <p:spPr>
          <a:xfrm>
            <a:off x="1828800" y="3886200"/>
            <a:ext cx="1051560" cy="274320"/>
          </a:xfrm>
          <a:prstGeom prst="rect">
            <a:avLst/>
          </a:prstGeom>
          <a:noFill/>
        </p:spPr>
        <p:txBody>
          <a:bodyPr wrap="square"/>
          <a:lstStyle/>
          <a:p>
            <a:pPr algn="ctr">
              <a:spcBef>
                <a:spcPts val="0"/>
              </a:spcBef>
              <a:spcAft>
                <a:spcPts val="0"/>
              </a:spcAft>
              <a:defRPr sz="1000" b="1">
                <a:solidFill>
                  <a:srgbClr val="7C3AED"/>
                </a:solidFill>
                <a:latin typeface="Calibri"/>
              </a:defRPr>
            </a:pPr>
            <a:r>
              <a:t>Q3 2026</a:t>
            </a:r>
          </a:p>
        </p:txBody>
      </p:sp>
      <p:sp>
        <p:nvSpPr>
          <p:cNvPr id="20" name="Oval 19"/>
          <p:cNvSpPr/>
          <p:nvPr/>
        </p:nvSpPr>
        <p:spPr>
          <a:xfrm>
            <a:off x="3598164" y="1993392"/>
            <a:ext cx="256032" cy="256032"/>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108960" y="1600200"/>
            <a:ext cx="1234440" cy="274320"/>
          </a:xfrm>
          <a:prstGeom prst="rect">
            <a:avLst/>
          </a:prstGeom>
          <a:noFill/>
        </p:spPr>
        <p:txBody>
          <a:bodyPr wrap="square"/>
          <a:lstStyle/>
          <a:p>
            <a:pPr algn="ctr">
              <a:spcBef>
                <a:spcPts val="0"/>
              </a:spcBef>
              <a:spcAft>
                <a:spcPts val="0"/>
              </a:spcAft>
              <a:defRPr sz="1100" b="1">
                <a:solidFill>
                  <a:srgbClr val="059669"/>
                </a:solidFill>
                <a:latin typeface="Calibri"/>
              </a:defRPr>
            </a:pPr>
            <a:r>
              <a:t>Phase 3</a:t>
            </a:r>
          </a:p>
        </p:txBody>
      </p:sp>
      <p:sp>
        <p:nvSpPr>
          <p:cNvPr id="22" name="Rounded Rectangle 21"/>
          <p:cNvSpPr/>
          <p:nvPr/>
        </p:nvSpPr>
        <p:spPr>
          <a:xfrm>
            <a:off x="3108960" y="2468880"/>
            <a:ext cx="12344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108960" y="2468880"/>
            <a:ext cx="1234440" cy="457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200400" y="2651760"/>
            <a:ext cx="1051560" cy="548640"/>
          </a:xfrm>
          <a:prstGeom prst="rect">
            <a:avLst/>
          </a:prstGeom>
          <a:noFill/>
        </p:spPr>
        <p:txBody>
          <a:bodyPr wrap="square"/>
          <a:lstStyle/>
          <a:p>
            <a:pPr algn="ctr">
              <a:spcBef>
                <a:spcPts val="0"/>
              </a:spcBef>
              <a:spcAft>
                <a:spcPts val="0"/>
              </a:spcAft>
              <a:defRPr sz="1300" b="1">
                <a:solidFill>
                  <a:srgbClr val="0F172A"/>
                </a:solidFill>
                <a:latin typeface="Calibri"/>
              </a:defRPr>
            </a:pPr>
            <a:r>
              <a:t>GDPR APIs</a:t>
            </a:r>
          </a:p>
        </p:txBody>
      </p:sp>
      <p:sp>
        <p:nvSpPr>
          <p:cNvPr id="25" name="TextBox 24"/>
          <p:cNvSpPr txBox="1"/>
          <p:nvPr/>
        </p:nvSpPr>
        <p:spPr>
          <a:xfrm>
            <a:off x="3200400" y="3246120"/>
            <a:ext cx="1051560" cy="548640"/>
          </a:xfrm>
          <a:prstGeom prst="rect">
            <a:avLst/>
          </a:prstGeom>
          <a:noFill/>
        </p:spPr>
        <p:txBody>
          <a:bodyPr wrap="square"/>
          <a:lstStyle/>
          <a:p>
            <a:pPr algn="ctr">
              <a:spcBef>
                <a:spcPts val="0"/>
              </a:spcBef>
              <a:spcAft>
                <a:spcPts val="0"/>
              </a:spcAft>
              <a:defRPr sz="1000" b="0">
                <a:solidFill>
                  <a:srgbClr val="64748B"/>
                </a:solidFill>
                <a:latin typeface="Calibri"/>
              </a:defRPr>
            </a:pPr>
            <a:r>
              <a:t>Data deletion, export</a:t>
            </a:r>
            <a:br/>
            <a:r>
              <a:t>consent management</a:t>
            </a:r>
          </a:p>
        </p:txBody>
      </p:sp>
      <p:sp>
        <p:nvSpPr>
          <p:cNvPr id="26" name="TextBox 25"/>
          <p:cNvSpPr txBox="1"/>
          <p:nvPr/>
        </p:nvSpPr>
        <p:spPr>
          <a:xfrm>
            <a:off x="3200400" y="3886200"/>
            <a:ext cx="1051560" cy="274320"/>
          </a:xfrm>
          <a:prstGeom prst="rect">
            <a:avLst/>
          </a:prstGeom>
          <a:noFill/>
        </p:spPr>
        <p:txBody>
          <a:bodyPr wrap="square"/>
          <a:lstStyle/>
          <a:p>
            <a:pPr algn="ctr">
              <a:spcBef>
                <a:spcPts val="0"/>
              </a:spcBef>
              <a:spcAft>
                <a:spcPts val="0"/>
              </a:spcAft>
              <a:defRPr sz="1000" b="1">
                <a:solidFill>
                  <a:srgbClr val="059669"/>
                </a:solidFill>
                <a:latin typeface="Calibri"/>
              </a:defRPr>
            </a:pPr>
            <a:r>
              <a:t>Q4 2026</a:t>
            </a:r>
          </a:p>
        </p:txBody>
      </p:sp>
      <p:sp>
        <p:nvSpPr>
          <p:cNvPr id="27" name="Oval 26"/>
          <p:cNvSpPr/>
          <p:nvPr/>
        </p:nvSpPr>
        <p:spPr>
          <a:xfrm>
            <a:off x="4969764" y="1993392"/>
            <a:ext cx="256032" cy="256032"/>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80560" y="1600200"/>
            <a:ext cx="1234440" cy="274320"/>
          </a:xfrm>
          <a:prstGeom prst="rect">
            <a:avLst/>
          </a:prstGeom>
          <a:noFill/>
        </p:spPr>
        <p:txBody>
          <a:bodyPr wrap="square"/>
          <a:lstStyle/>
          <a:p>
            <a:pPr algn="ctr">
              <a:spcBef>
                <a:spcPts val="0"/>
              </a:spcBef>
              <a:spcAft>
                <a:spcPts val="0"/>
              </a:spcAft>
              <a:defRPr sz="1100" b="1">
                <a:solidFill>
                  <a:srgbClr val="D97706"/>
                </a:solidFill>
                <a:latin typeface="Calibri"/>
              </a:defRPr>
            </a:pPr>
            <a:r>
              <a:t>Phase 4</a:t>
            </a:r>
          </a:p>
        </p:txBody>
      </p:sp>
      <p:sp>
        <p:nvSpPr>
          <p:cNvPr id="29" name="Rounded Rectangle 28"/>
          <p:cNvSpPr/>
          <p:nvPr/>
        </p:nvSpPr>
        <p:spPr>
          <a:xfrm>
            <a:off x="4480560" y="2468880"/>
            <a:ext cx="12344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4480560" y="2468880"/>
            <a:ext cx="1234440" cy="457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0" y="2651760"/>
            <a:ext cx="1051560" cy="548640"/>
          </a:xfrm>
          <a:prstGeom prst="rect">
            <a:avLst/>
          </a:prstGeom>
          <a:noFill/>
        </p:spPr>
        <p:txBody>
          <a:bodyPr wrap="square"/>
          <a:lstStyle/>
          <a:p>
            <a:pPr algn="ctr">
              <a:spcBef>
                <a:spcPts val="0"/>
              </a:spcBef>
              <a:spcAft>
                <a:spcPts val="0"/>
              </a:spcAft>
              <a:defRPr sz="1300" b="1">
                <a:solidFill>
                  <a:srgbClr val="0F172A"/>
                </a:solidFill>
                <a:latin typeface="Calibri"/>
              </a:defRPr>
            </a:pPr>
            <a:r>
              <a:t>Multi-Tenant</a:t>
            </a:r>
            <a:br/>
            <a:r>
              <a:t>SaaS</a:t>
            </a:r>
          </a:p>
        </p:txBody>
      </p:sp>
      <p:sp>
        <p:nvSpPr>
          <p:cNvPr id="32" name="TextBox 31"/>
          <p:cNvSpPr txBox="1"/>
          <p:nvPr/>
        </p:nvSpPr>
        <p:spPr>
          <a:xfrm>
            <a:off x="4572000" y="3246120"/>
            <a:ext cx="1051560" cy="548640"/>
          </a:xfrm>
          <a:prstGeom prst="rect">
            <a:avLst/>
          </a:prstGeom>
          <a:noFill/>
        </p:spPr>
        <p:txBody>
          <a:bodyPr wrap="square"/>
          <a:lstStyle/>
          <a:p>
            <a:pPr algn="ctr">
              <a:spcBef>
                <a:spcPts val="0"/>
              </a:spcBef>
              <a:spcAft>
                <a:spcPts val="0"/>
              </a:spcAft>
              <a:defRPr sz="1000" b="0">
                <a:solidFill>
                  <a:srgbClr val="64748B"/>
                </a:solidFill>
                <a:latin typeface="Calibri"/>
              </a:defRPr>
            </a:pPr>
            <a:r>
              <a:t>Organization isolation</a:t>
            </a:r>
            <a:br/>
            <a:r>
              <a:t>usage-based billing</a:t>
            </a:r>
          </a:p>
        </p:txBody>
      </p:sp>
      <p:sp>
        <p:nvSpPr>
          <p:cNvPr id="33" name="TextBox 32"/>
          <p:cNvSpPr txBox="1"/>
          <p:nvPr/>
        </p:nvSpPr>
        <p:spPr>
          <a:xfrm>
            <a:off x="4572000" y="3886200"/>
            <a:ext cx="1051560" cy="274320"/>
          </a:xfrm>
          <a:prstGeom prst="rect">
            <a:avLst/>
          </a:prstGeom>
          <a:noFill/>
        </p:spPr>
        <p:txBody>
          <a:bodyPr wrap="square"/>
          <a:lstStyle/>
          <a:p>
            <a:pPr algn="ctr">
              <a:spcBef>
                <a:spcPts val="0"/>
              </a:spcBef>
              <a:spcAft>
                <a:spcPts val="0"/>
              </a:spcAft>
              <a:defRPr sz="1000" b="1">
                <a:solidFill>
                  <a:srgbClr val="D97706"/>
                </a:solidFill>
                <a:latin typeface="Calibri"/>
              </a:defRPr>
            </a:pPr>
            <a:r>
              <a:t>Q4 2026</a:t>
            </a:r>
          </a:p>
        </p:txBody>
      </p:sp>
      <p:sp>
        <p:nvSpPr>
          <p:cNvPr id="34" name="Oval 33"/>
          <p:cNvSpPr/>
          <p:nvPr/>
        </p:nvSpPr>
        <p:spPr>
          <a:xfrm>
            <a:off x="6341364" y="1993392"/>
            <a:ext cx="256032" cy="256032"/>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852160" y="1600200"/>
            <a:ext cx="1234440" cy="274320"/>
          </a:xfrm>
          <a:prstGeom prst="rect">
            <a:avLst/>
          </a:prstGeom>
          <a:noFill/>
        </p:spPr>
        <p:txBody>
          <a:bodyPr wrap="square"/>
          <a:lstStyle/>
          <a:p>
            <a:pPr algn="ctr">
              <a:spcBef>
                <a:spcPts val="0"/>
              </a:spcBef>
              <a:spcAft>
                <a:spcPts val="0"/>
              </a:spcAft>
              <a:defRPr sz="1100" b="1">
                <a:solidFill>
                  <a:srgbClr val="2563EB"/>
                </a:solidFill>
                <a:latin typeface="Calibri"/>
              </a:defRPr>
            </a:pPr>
            <a:r>
              <a:t>Phase 5</a:t>
            </a:r>
          </a:p>
        </p:txBody>
      </p:sp>
      <p:sp>
        <p:nvSpPr>
          <p:cNvPr id="36" name="Rounded Rectangle 35"/>
          <p:cNvSpPr/>
          <p:nvPr/>
        </p:nvSpPr>
        <p:spPr>
          <a:xfrm>
            <a:off x="5852160" y="2468880"/>
            <a:ext cx="12344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5852160" y="2468880"/>
            <a:ext cx="1234440" cy="457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943600" y="2651760"/>
            <a:ext cx="1051560" cy="548640"/>
          </a:xfrm>
          <a:prstGeom prst="rect">
            <a:avLst/>
          </a:prstGeom>
          <a:noFill/>
        </p:spPr>
        <p:txBody>
          <a:bodyPr wrap="square"/>
          <a:lstStyle/>
          <a:p>
            <a:pPr algn="ctr">
              <a:spcBef>
                <a:spcPts val="0"/>
              </a:spcBef>
              <a:spcAft>
                <a:spcPts val="0"/>
              </a:spcAft>
              <a:defRPr sz="1300" b="1">
                <a:solidFill>
                  <a:srgbClr val="0F172A"/>
                </a:solidFill>
                <a:latin typeface="Calibri"/>
              </a:defRPr>
            </a:pPr>
            <a:r>
              <a:t>Cloud</a:t>
            </a:r>
            <a:br/>
            <a:r>
              <a:t>Deployment</a:t>
            </a:r>
          </a:p>
        </p:txBody>
      </p:sp>
      <p:sp>
        <p:nvSpPr>
          <p:cNvPr id="39" name="TextBox 38"/>
          <p:cNvSpPr txBox="1"/>
          <p:nvPr/>
        </p:nvSpPr>
        <p:spPr>
          <a:xfrm>
            <a:off x="5943600" y="3246120"/>
            <a:ext cx="1051560" cy="548640"/>
          </a:xfrm>
          <a:prstGeom prst="rect">
            <a:avLst/>
          </a:prstGeom>
          <a:noFill/>
        </p:spPr>
        <p:txBody>
          <a:bodyPr wrap="square"/>
          <a:lstStyle/>
          <a:p>
            <a:pPr algn="ctr">
              <a:spcBef>
                <a:spcPts val="0"/>
              </a:spcBef>
              <a:spcAft>
                <a:spcPts val="0"/>
              </a:spcAft>
              <a:defRPr sz="1000" b="0">
                <a:solidFill>
                  <a:srgbClr val="64748B"/>
                </a:solidFill>
                <a:latin typeface="Calibri"/>
              </a:defRPr>
            </a:pPr>
            <a:r>
              <a:t>AWS/GCP/Azure</a:t>
            </a:r>
            <a:br/>
            <a:r>
              <a:t>Kubernetes, Terraform</a:t>
            </a:r>
          </a:p>
        </p:txBody>
      </p:sp>
      <p:sp>
        <p:nvSpPr>
          <p:cNvPr id="40" name="TextBox 39"/>
          <p:cNvSpPr txBox="1"/>
          <p:nvPr/>
        </p:nvSpPr>
        <p:spPr>
          <a:xfrm>
            <a:off x="5943600" y="3886200"/>
            <a:ext cx="1051560" cy="274320"/>
          </a:xfrm>
          <a:prstGeom prst="rect">
            <a:avLst/>
          </a:prstGeom>
          <a:noFill/>
        </p:spPr>
        <p:txBody>
          <a:bodyPr wrap="square"/>
          <a:lstStyle/>
          <a:p>
            <a:pPr algn="ctr">
              <a:spcBef>
                <a:spcPts val="0"/>
              </a:spcBef>
              <a:spcAft>
                <a:spcPts val="0"/>
              </a:spcAft>
              <a:defRPr sz="1000" b="1">
                <a:solidFill>
                  <a:srgbClr val="2563EB"/>
                </a:solidFill>
                <a:latin typeface="Calibri"/>
              </a:defRPr>
            </a:pPr>
            <a:r>
              <a:t>Q1 2027</a:t>
            </a:r>
          </a:p>
        </p:txBody>
      </p:sp>
      <p:sp>
        <p:nvSpPr>
          <p:cNvPr id="41" name="Oval 40"/>
          <p:cNvSpPr/>
          <p:nvPr/>
        </p:nvSpPr>
        <p:spPr>
          <a:xfrm>
            <a:off x="7712964" y="1993392"/>
            <a:ext cx="256032" cy="256032"/>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223760" y="1600200"/>
            <a:ext cx="1234440" cy="274320"/>
          </a:xfrm>
          <a:prstGeom prst="rect">
            <a:avLst/>
          </a:prstGeom>
          <a:noFill/>
        </p:spPr>
        <p:txBody>
          <a:bodyPr wrap="square"/>
          <a:lstStyle/>
          <a:p>
            <a:pPr algn="ctr">
              <a:spcBef>
                <a:spcPts val="0"/>
              </a:spcBef>
              <a:spcAft>
                <a:spcPts val="0"/>
              </a:spcAft>
              <a:defRPr sz="1100" b="1">
                <a:solidFill>
                  <a:srgbClr val="4F46E5"/>
                </a:solidFill>
                <a:latin typeface="Calibri"/>
              </a:defRPr>
            </a:pPr>
            <a:r>
              <a:t>Phase 6</a:t>
            </a:r>
          </a:p>
        </p:txBody>
      </p:sp>
      <p:sp>
        <p:nvSpPr>
          <p:cNvPr id="43" name="Rounded Rectangle 42"/>
          <p:cNvSpPr/>
          <p:nvPr/>
        </p:nvSpPr>
        <p:spPr>
          <a:xfrm>
            <a:off x="7223760" y="2468880"/>
            <a:ext cx="12344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7223760" y="2468880"/>
            <a:ext cx="1234440" cy="4572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315200" y="2651760"/>
            <a:ext cx="1051560" cy="548640"/>
          </a:xfrm>
          <a:prstGeom prst="rect">
            <a:avLst/>
          </a:prstGeom>
          <a:noFill/>
        </p:spPr>
        <p:txBody>
          <a:bodyPr wrap="square"/>
          <a:lstStyle/>
          <a:p>
            <a:pPr algn="ctr">
              <a:spcBef>
                <a:spcPts val="0"/>
              </a:spcBef>
              <a:spcAft>
                <a:spcPts val="0"/>
              </a:spcAft>
              <a:defRPr sz="1300" b="1">
                <a:solidFill>
                  <a:srgbClr val="0F172A"/>
                </a:solidFill>
                <a:latin typeface="Calibri"/>
              </a:defRPr>
            </a:pPr>
            <a:r>
              <a:t>Predictive</a:t>
            </a:r>
            <a:br/>
            <a:r>
              <a:t>CLV</a:t>
            </a:r>
          </a:p>
        </p:txBody>
      </p:sp>
      <p:sp>
        <p:nvSpPr>
          <p:cNvPr id="46" name="TextBox 45"/>
          <p:cNvSpPr txBox="1"/>
          <p:nvPr/>
        </p:nvSpPr>
        <p:spPr>
          <a:xfrm>
            <a:off x="7315200" y="3246120"/>
            <a:ext cx="1051560" cy="548640"/>
          </a:xfrm>
          <a:prstGeom prst="rect">
            <a:avLst/>
          </a:prstGeom>
          <a:noFill/>
        </p:spPr>
        <p:txBody>
          <a:bodyPr wrap="square"/>
          <a:lstStyle/>
          <a:p>
            <a:pPr algn="ctr">
              <a:spcBef>
                <a:spcPts val="0"/>
              </a:spcBef>
              <a:spcAft>
                <a:spcPts val="0"/>
              </a:spcAft>
              <a:defRPr sz="1000" b="0">
                <a:solidFill>
                  <a:srgbClr val="64748B"/>
                </a:solidFill>
                <a:latin typeface="Calibri"/>
              </a:defRPr>
            </a:pPr>
            <a:r>
              <a:t>Customer lifetime value</a:t>
            </a:r>
            <a:br/>
            <a:r>
              <a:t>ML forecasting models</a:t>
            </a:r>
          </a:p>
        </p:txBody>
      </p:sp>
      <p:sp>
        <p:nvSpPr>
          <p:cNvPr id="47" name="TextBox 46"/>
          <p:cNvSpPr txBox="1"/>
          <p:nvPr/>
        </p:nvSpPr>
        <p:spPr>
          <a:xfrm>
            <a:off x="7315200" y="3886200"/>
            <a:ext cx="1051560" cy="274320"/>
          </a:xfrm>
          <a:prstGeom prst="rect">
            <a:avLst/>
          </a:prstGeom>
          <a:noFill/>
        </p:spPr>
        <p:txBody>
          <a:bodyPr wrap="square"/>
          <a:lstStyle/>
          <a:p>
            <a:pPr algn="ctr">
              <a:spcBef>
                <a:spcPts val="0"/>
              </a:spcBef>
              <a:spcAft>
                <a:spcPts val="0"/>
              </a:spcAft>
              <a:defRPr sz="1000" b="1">
                <a:solidFill>
                  <a:srgbClr val="4F46E5"/>
                </a:solidFill>
                <a:latin typeface="Calibri"/>
              </a:defRPr>
            </a:pPr>
            <a:r>
              <a:t>Q1 2027</a:t>
            </a:r>
          </a:p>
        </p:txBody>
      </p:sp>
      <p:sp>
        <p:nvSpPr>
          <p:cNvPr id="48" name="Oval 47"/>
          <p:cNvSpPr/>
          <p:nvPr/>
        </p:nvSpPr>
        <p:spPr>
          <a:xfrm>
            <a:off x="9084564" y="1993392"/>
            <a:ext cx="256032" cy="256032"/>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595360" y="1600200"/>
            <a:ext cx="1234440" cy="274320"/>
          </a:xfrm>
          <a:prstGeom prst="rect">
            <a:avLst/>
          </a:prstGeom>
          <a:noFill/>
        </p:spPr>
        <p:txBody>
          <a:bodyPr wrap="square"/>
          <a:lstStyle/>
          <a:p>
            <a:pPr algn="ctr">
              <a:spcBef>
                <a:spcPts val="0"/>
              </a:spcBef>
              <a:spcAft>
                <a:spcPts val="0"/>
              </a:spcAft>
              <a:defRPr sz="1100" b="1">
                <a:solidFill>
                  <a:srgbClr val="059669"/>
                </a:solidFill>
                <a:latin typeface="Calibri"/>
              </a:defRPr>
            </a:pPr>
            <a:r>
              <a:t>Phase 7</a:t>
            </a:r>
          </a:p>
        </p:txBody>
      </p:sp>
      <p:sp>
        <p:nvSpPr>
          <p:cNvPr id="50" name="Rounded Rectangle 49"/>
          <p:cNvSpPr/>
          <p:nvPr/>
        </p:nvSpPr>
        <p:spPr>
          <a:xfrm>
            <a:off x="8595360" y="2468880"/>
            <a:ext cx="12344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8595360" y="2468880"/>
            <a:ext cx="1234440" cy="457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686800" y="2651760"/>
            <a:ext cx="1051560" cy="548640"/>
          </a:xfrm>
          <a:prstGeom prst="rect">
            <a:avLst/>
          </a:prstGeom>
          <a:noFill/>
        </p:spPr>
        <p:txBody>
          <a:bodyPr wrap="square"/>
          <a:lstStyle/>
          <a:p>
            <a:pPr algn="ctr">
              <a:spcBef>
                <a:spcPts val="0"/>
              </a:spcBef>
              <a:spcAft>
                <a:spcPts val="0"/>
              </a:spcAft>
              <a:defRPr sz="1300" b="1">
                <a:solidFill>
                  <a:srgbClr val="0F172A"/>
                </a:solidFill>
                <a:latin typeface="Calibri"/>
              </a:defRPr>
            </a:pPr>
            <a:r>
              <a:t>Marketing</a:t>
            </a:r>
            <a:br/>
            <a:r>
              <a:t>Automation</a:t>
            </a:r>
          </a:p>
        </p:txBody>
      </p:sp>
      <p:sp>
        <p:nvSpPr>
          <p:cNvPr id="53" name="TextBox 52"/>
          <p:cNvSpPr txBox="1"/>
          <p:nvPr/>
        </p:nvSpPr>
        <p:spPr>
          <a:xfrm>
            <a:off x="8686800" y="3246120"/>
            <a:ext cx="1051560" cy="548640"/>
          </a:xfrm>
          <a:prstGeom prst="rect">
            <a:avLst/>
          </a:prstGeom>
          <a:noFill/>
        </p:spPr>
        <p:txBody>
          <a:bodyPr wrap="square"/>
          <a:lstStyle/>
          <a:p>
            <a:pPr algn="ctr">
              <a:spcBef>
                <a:spcPts val="0"/>
              </a:spcBef>
              <a:spcAft>
                <a:spcPts val="0"/>
              </a:spcAft>
              <a:defRPr sz="1000" b="0">
                <a:solidFill>
                  <a:srgbClr val="64748B"/>
                </a:solidFill>
                <a:latin typeface="Calibri"/>
              </a:defRPr>
            </a:pPr>
            <a:r>
              <a:t>Journey builder</a:t>
            </a:r>
            <a:br/>
            <a:r>
              <a:t>campaign triggers</a:t>
            </a:r>
          </a:p>
        </p:txBody>
      </p:sp>
      <p:sp>
        <p:nvSpPr>
          <p:cNvPr id="54" name="TextBox 53"/>
          <p:cNvSpPr txBox="1"/>
          <p:nvPr/>
        </p:nvSpPr>
        <p:spPr>
          <a:xfrm>
            <a:off x="8686800" y="3886200"/>
            <a:ext cx="1051560" cy="274320"/>
          </a:xfrm>
          <a:prstGeom prst="rect">
            <a:avLst/>
          </a:prstGeom>
          <a:noFill/>
        </p:spPr>
        <p:txBody>
          <a:bodyPr wrap="square"/>
          <a:lstStyle/>
          <a:p>
            <a:pPr algn="ctr">
              <a:spcBef>
                <a:spcPts val="0"/>
              </a:spcBef>
              <a:spcAft>
                <a:spcPts val="0"/>
              </a:spcAft>
              <a:defRPr sz="1000" b="1">
                <a:solidFill>
                  <a:srgbClr val="059669"/>
                </a:solidFill>
                <a:latin typeface="Calibri"/>
              </a:defRPr>
            </a:pPr>
            <a:r>
              <a:t>Q2 2027</a:t>
            </a:r>
          </a:p>
        </p:txBody>
      </p:sp>
      <p:sp>
        <p:nvSpPr>
          <p:cNvPr id="55" name="Oval 54"/>
          <p:cNvSpPr/>
          <p:nvPr/>
        </p:nvSpPr>
        <p:spPr>
          <a:xfrm>
            <a:off x="10456164" y="1993392"/>
            <a:ext cx="256032" cy="256032"/>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966960" y="1600200"/>
            <a:ext cx="1234440" cy="274320"/>
          </a:xfrm>
          <a:prstGeom prst="rect">
            <a:avLst/>
          </a:prstGeom>
          <a:noFill/>
        </p:spPr>
        <p:txBody>
          <a:bodyPr wrap="square"/>
          <a:lstStyle/>
          <a:p>
            <a:pPr algn="ctr">
              <a:spcBef>
                <a:spcPts val="0"/>
              </a:spcBef>
              <a:spcAft>
                <a:spcPts val="0"/>
              </a:spcAft>
              <a:defRPr sz="1100" b="1">
                <a:solidFill>
                  <a:srgbClr val="D97706"/>
                </a:solidFill>
                <a:latin typeface="Calibri"/>
              </a:defRPr>
            </a:pPr>
            <a:r>
              <a:t>Phase 8</a:t>
            </a:r>
          </a:p>
        </p:txBody>
      </p:sp>
      <p:sp>
        <p:nvSpPr>
          <p:cNvPr id="57" name="Rounded Rectangle 56"/>
          <p:cNvSpPr/>
          <p:nvPr/>
        </p:nvSpPr>
        <p:spPr>
          <a:xfrm>
            <a:off x="9966960" y="2468880"/>
            <a:ext cx="12344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9966960" y="2468880"/>
            <a:ext cx="1234440" cy="457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058400" y="2651760"/>
            <a:ext cx="1051560" cy="548640"/>
          </a:xfrm>
          <a:prstGeom prst="rect">
            <a:avLst/>
          </a:prstGeom>
          <a:noFill/>
        </p:spPr>
        <p:txBody>
          <a:bodyPr wrap="square"/>
          <a:lstStyle/>
          <a:p>
            <a:pPr algn="ctr">
              <a:spcBef>
                <a:spcPts val="0"/>
              </a:spcBef>
              <a:spcAft>
                <a:spcPts val="0"/>
              </a:spcAft>
              <a:defRPr sz="1300" b="1">
                <a:solidFill>
                  <a:srgbClr val="0F172A"/>
                </a:solidFill>
                <a:latin typeface="Calibri"/>
              </a:defRPr>
            </a:pPr>
            <a:r>
              <a:t>A/B Testing</a:t>
            </a:r>
            <a:br/>
            <a:r>
              <a:t>Engine</a:t>
            </a:r>
          </a:p>
        </p:txBody>
      </p:sp>
      <p:sp>
        <p:nvSpPr>
          <p:cNvPr id="60" name="TextBox 59"/>
          <p:cNvSpPr txBox="1"/>
          <p:nvPr/>
        </p:nvSpPr>
        <p:spPr>
          <a:xfrm>
            <a:off x="10058400" y="3246120"/>
            <a:ext cx="1051560" cy="548640"/>
          </a:xfrm>
          <a:prstGeom prst="rect">
            <a:avLst/>
          </a:prstGeom>
          <a:noFill/>
        </p:spPr>
        <p:txBody>
          <a:bodyPr wrap="square"/>
          <a:lstStyle/>
          <a:p>
            <a:pPr algn="ctr">
              <a:spcBef>
                <a:spcPts val="0"/>
              </a:spcBef>
              <a:spcAft>
                <a:spcPts val="0"/>
              </a:spcAft>
              <a:defRPr sz="1000" b="0">
                <a:solidFill>
                  <a:srgbClr val="64748B"/>
                </a:solidFill>
                <a:latin typeface="Calibri"/>
              </a:defRPr>
            </a:pPr>
            <a:r>
              <a:t>Multi-variant testing</a:t>
            </a:r>
            <a:br/>
            <a:r>
              <a:t>statistical significance</a:t>
            </a:r>
          </a:p>
        </p:txBody>
      </p:sp>
      <p:sp>
        <p:nvSpPr>
          <p:cNvPr id="61" name="TextBox 60"/>
          <p:cNvSpPr txBox="1"/>
          <p:nvPr/>
        </p:nvSpPr>
        <p:spPr>
          <a:xfrm>
            <a:off x="10058400" y="3886200"/>
            <a:ext cx="1051560" cy="274320"/>
          </a:xfrm>
          <a:prstGeom prst="rect">
            <a:avLst/>
          </a:prstGeom>
          <a:noFill/>
        </p:spPr>
        <p:txBody>
          <a:bodyPr wrap="square"/>
          <a:lstStyle/>
          <a:p>
            <a:pPr algn="ctr">
              <a:spcBef>
                <a:spcPts val="0"/>
              </a:spcBef>
              <a:spcAft>
                <a:spcPts val="0"/>
              </a:spcAft>
              <a:defRPr sz="1000" b="1">
                <a:solidFill>
                  <a:srgbClr val="D97706"/>
                </a:solidFill>
                <a:latin typeface="Calibri"/>
              </a:defRPr>
            </a:pPr>
            <a:r>
              <a:t>Q2 2027</a:t>
            </a:r>
          </a:p>
        </p:txBody>
      </p:sp>
      <p:sp>
        <p:nvSpPr>
          <p:cNvPr id="62" name="Rounded Rectangle 61"/>
          <p:cNvSpPr/>
          <p:nvPr/>
        </p:nvSpPr>
        <p:spPr>
          <a:xfrm>
            <a:off x="457200" y="5120640"/>
            <a:ext cx="11247120" cy="3657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14400" y="5394960"/>
            <a:ext cx="10332720" cy="914400"/>
          </a:xfrm>
          <a:prstGeom prst="rect">
            <a:avLst/>
          </a:prstGeom>
          <a:noFill/>
        </p:spPr>
        <p:txBody>
          <a:bodyPr wrap="square"/>
          <a:lstStyle/>
          <a:p>
            <a:pPr algn="ctr">
              <a:spcBef>
                <a:spcPts val="0"/>
              </a:spcBef>
              <a:spcAft>
                <a:spcPts val="0"/>
              </a:spcAft>
              <a:defRPr sz="2600" b="1">
                <a:solidFill>
                  <a:srgbClr val="0F172A"/>
                </a:solidFill>
                <a:latin typeface="Calibri"/>
              </a:defRPr>
            </a:pPr>
            <a:r>
              <a:t>"From fragmented customer interactions to intelligent,</a:t>
            </a:r>
            <a:br/>
            <a:r>
              <a:t>privacy-preserving, AI-driven personalization."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2303</Words>
  <Application>Microsoft Macintosh PowerPoint</Application>
  <PresentationFormat>Widescreen</PresentationFormat>
  <Paragraphs>288</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Aman Choudhary</cp:lastModifiedBy>
  <cp:revision>2</cp:revision>
  <dcterms:created xsi:type="dcterms:W3CDTF">2013-01-27T09:14:16Z</dcterms:created>
  <dcterms:modified xsi:type="dcterms:W3CDTF">2026-06-25T00:14:12Z</dcterms:modified>
  <cp:category/>
</cp:coreProperties>
</file>